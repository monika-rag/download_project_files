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265B"/>
          </a:solidFill>
          <a:ln w="12700">
            <a:solidFill>
              <a:srgbClr val="0826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287000" y="54864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543032" y="54864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799064" y="54864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055096" y="54864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311128" y="54864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287000" y="310896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543032" y="310896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0799064" y="310896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055096" y="310896"/>
            <a:ext cx="173736" cy="155448"/>
          </a:xfrm>
          <a:prstGeom prst="hexagon">
            <a:avLst/>
          </a:prstGeom>
          <a:solidFill>
            <a:srgbClr val="FFFFFF">
              <a:alpha val="0"/>
            </a:srgbClr>
          </a:solidFill>
          <a:ln w="10160">
            <a:solidFill>
              <a:srgbClr val="A9DDE4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018520" y="3108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20040" y="18288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82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SVHA Metadata-Driven Framework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7472" y="7498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Reusable, scalable and configurable data engineering framework in Microsoft Fabric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256032" y="1572768"/>
            <a:ext cx="1700784" cy="288950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A9DDE4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56032" y="1572768"/>
            <a:ext cx="1700784" cy="603504"/>
          </a:xfrm>
          <a:prstGeom prst="roundRect">
            <a:avLst>
              <a:gd name="adj" fmla="val 22727"/>
            </a:avLst>
          </a:prstGeom>
          <a:solidFill>
            <a:srgbClr val="08265B"/>
          </a:solidFill>
          <a:ln w="12700">
            <a:solidFill>
              <a:srgbClr val="0826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9184" y="1673352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Source Systems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905256" y="12801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DDE4"/>
            </a:solidFill>
            <a:prstDash val="solid"/>
          </a:ln>
          <a:effectLst>
            <a:outerShdw sx="100000" sy="100000" kx="0" ky="0" algn="bl" rotWithShape="0" blurRad="12700" dist="50800" dir="2700000">
              <a:srgbClr val="E2E8F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23544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185416" y="1572768"/>
            <a:ext cx="1700784" cy="288950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A9DDE4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185416" y="1572768"/>
            <a:ext cx="1700784" cy="603504"/>
          </a:xfrm>
          <a:prstGeom prst="roundRect">
            <a:avLst>
              <a:gd name="adj" fmla="val 22727"/>
            </a:avLst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258568" y="1673352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Metadata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2834640" y="12801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DDE4"/>
            </a:solidFill>
            <a:prstDash val="solid"/>
          </a:ln>
          <a:effectLst>
            <a:outerShdw sx="100000" sy="100000" kx="0" ky="0" algn="bl" rotWithShape="0" blurRad="12700" dist="50800" dir="2700000">
              <a:srgbClr val="E2E8F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852928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114800" y="1572768"/>
            <a:ext cx="1700784" cy="288950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A9DDE4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114800" y="1572768"/>
            <a:ext cx="1700784" cy="603504"/>
          </a:xfrm>
          <a:prstGeom prst="roundRect">
            <a:avLst>
              <a:gd name="adj" fmla="val 22727"/>
            </a:avLst>
          </a:prstGeom>
          <a:solidFill>
            <a:srgbClr val="08265B"/>
          </a:solidFill>
          <a:ln w="12700">
            <a:solidFill>
              <a:srgbClr val="0826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187952" y="1673352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Generic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Pipeline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4764024" y="12801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DDE4"/>
            </a:solidFill>
            <a:prstDash val="solid"/>
          </a:ln>
          <a:effectLst>
            <a:outerShdw sx="100000" sy="100000" kx="0" ky="0" algn="bl" rotWithShape="0" blurRad="12700" dist="50800" dir="2700000">
              <a:srgbClr val="E2E8F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82312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044184" y="1572768"/>
            <a:ext cx="1700784" cy="288950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A9DDE4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044184" y="1572768"/>
            <a:ext cx="1700784" cy="603504"/>
          </a:xfrm>
          <a:prstGeom prst="roundRect">
            <a:avLst>
              <a:gd name="adj" fmla="val 22727"/>
            </a:avLst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117336" y="1673352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Reusable Processing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6693408" y="12801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DDE4"/>
            </a:solidFill>
            <a:prstDash val="solid"/>
          </a:ln>
          <a:effectLst>
            <a:outerShdw sx="100000" sy="100000" kx="0" ky="0" algn="bl" rotWithShape="0" blurRad="12700" dist="50800" dir="2700000">
              <a:srgbClr val="E2E8F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711696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973568" y="1572768"/>
            <a:ext cx="1700784" cy="288950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A9DDE4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973568" y="1572768"/>
            <a:ext cx="1700784" cy="603504"/>
          </a:xfrm>
          <a:prstGeom prst="roundRect">
            <a:avLst>
              <a:gd name="adj" fmla="val 22727"/>
            </a:avLst>
          </a:prstGeom>
          <a:solidFill>
            <a:srgbClr val="08265B"/>
          </a:solidFill>
          <a:ln w="12700">
            <a:solidFill>
              <a:srgbClr val="0826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046720" y="1673352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OneLake /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Lakehouse</a:t>
            </a:r>
            <a:endParaRPr lang="en-US" sz="1240" dirty="0"/>
          </a:p>
        </p:txBody>
      </p:sp>
      <p:sp>
        <p:nvSpPr>
          <p:cNvPr id="38" name="Shape 36"/>
          <p:cNvSpPr/>
          <p:nvPr/>
        </p:nvSpPr>
        <p:spPr>
          <a:xfrm>
            <a:off x="8622792" y="12801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DDE4"/>
            </a:solidFill>
            <a:prstDash val="solid"/>
          </a:ln>
          <a:effectLst>
            <a:outerShdw sx="100000" sy="100000" kx="0" ky="0" algn="bl" rotWithShape="0" blurRad="12700" dist="50800" dir="2700000">
              <a:srgbClr val="E2E8F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64108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9902952" y="1572768"/>
            <a:ext cx="1700784" cy="2889504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1430">
            <a:solidFill>
              <a:srgbClr val="A9DDE4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902952" y="1572768"/>
            <a:ext cx="1700784" cy="603504"/>
          </a:xfrm>
          <a:prstGeom prst="roundRect">
            <a:avLst>
              <a:gd name="adj" fmla="val 22727"/>
            </a:avLst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976104" y="1673352"/>
            <a:ext cx="155448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Delivery &amp;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</a:t>
            </a: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10552176" y="1280160"/>
            <a:ext cx="402336" cy="40233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DDE4"/>
            </a:solidFill>
            <a:prstDash val="solid"/>
          </a:ln>
          <a:effectLst>
            <a:outerShdw sx="100000" sy="100000" kx="0" ky="0" algn="bl" rotWithShape="0" blurRad="12700" dist="50800" dir="2700000">
              <a:srgbClr val="E2E8F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570464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●●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2002536" y="2889504"/>
            <a:ext cx="182880" cy="128016"/>
          </a:xfrm>
          <a:prstGeom prst="rightArrow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3931920" y="2889504"/>
            <a:ext cx="182880" cy="128016"/>
          </a:xfrm>
          <a:prstGeom prst="rightArrow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5861304" y="2889504"/>
            <a:ext cx="182880" cy="128016"/>
          </a:xfrm>
          <a:prstGeom prst="rightArrow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790688" y="2889504"/>
            <a:ext cx="182880" cy="128016"/>
          </a:xfrm>
          <a:prstGeom prst="rightArrow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720072" y="2889504"/>
            <a:ext cx="182880" cy="128016"/>
          </a:xfrm>
          <a:prstGeom prst="rightArrow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20624" y="2779776"/>
            <a:ext cx="256032" cy="256032"/>
          </a:xfrm>
          <a:prstGeom prst="ellipse">
            <a:avLst/>
          </a:prstGeom>
          <a:solidFill>
            <a:srgbClr val="22A652"/>
          </a:solidFill>
          <a:ln w="12700">
            <a:solidFill>
              <a:srgbClr val="22A65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0624" y="2788920"/>
            <a:ext cx="256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◉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86384" y="2761488"/>
            <a:ext cx="1005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Dataverse</a:t>
            </a:r>
            <a:endParaRPr lang="en-US" sz="1130" dirty="0"/>
          </a:p>
        </p:txBody>
      </p:sp>
      <p:sp>
        <p:nvSpPr>
          <p:cNvPr id="56" name="Shape 54"/>
          <p:cNvSpPr/>
          <p:nvPr/>
        </p:nvSpPr>
        <p:spPr>
          <a:xfrm>
            <a:off x="2331720" y="2459736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2468880" y="2377440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&amp; target paths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2331720" y="2825496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2468880" y="2743200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patterns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2331720" y="3191256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468880" y="3108960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type</a:t>
            </a:r>
            <a:endParaRPr lang="en-US" sz="960" dirty="0"/>
          </a:p>
        </p:txBody>
      </p:sp>
      <p:sp>
        <p:nvSpPr>
          <p:cNvPr id="62" name="Shape 60"/>
          <p:cNvSpPr/>
          <p:nvPr/>
        </p:nvSpPr>
        <p:spPr>
          <a:xfrm>
            <a:off x="2331720" y="3557016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468880" y="3474720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group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2331720" y="3922776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468880" y="3840480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sequence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2331720" y="4288536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2468880" y="4206240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flag</a:t>
            </a:r>
            <a:endParaRPr lang="en-US" sz="960" dirty="0"/>
          </a:p>
        </p:txBody>
      </p:sp>
      <p:sp>
        <p:nvSpPr>
          <p:cNvPr id="68" name="Shape 66"/>
          <p:cNvSpPr/>
          <p:nvPr/>
        </p:nvSpPr>
        <p:spPr>
          <a:xfrm>
            <a:off x="4261104" y="2459736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398264" y="2377440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metadata</a:t>
            </a:r>
            <a:endParaRPr lang="en-US" sz="960" dirty="0"/>
          </a:p>
        </p:txBody>
      </p:sp>
      <p:sp>
        <p:nvSpPr>
          <p:cNvPr id="70" name="Shape 68"/>
          <p:cNvSpPr/>
          <p:nvPr/>
        </p:nvSpPr>
        <p:spPr>
          <a:xfrm>
            <a:off x="4261104" y="2980944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398264" y="2898648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Parameterize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960" dirty="0"/>
          </a:p>
        </p:txBody>
      </p:sp>
      <p:sp>
        <p:nvSpPr>
          <p:cNvPr id="72" name="Shape 70"/>
          <p:cNvSpPr/>
          <p:nvPr/>
        </p:nvSpPr>
        <p:spPr>
          <a:xfrm>
            <a:off x="4261104" y="3584448"/>
            <a:ext cx="50292" cy="50292"/>
          </a:xfrm>
          <a:prstGeom prst="ellipse">
            <a:avLst/>
          </a:prstGeom>
          <a:solidFill>
            <a:srgbClr val="008A95"/>
          </a:solidFill>
          <a:ln w="12700">
            <a:solidFill>
              <a:srgbClr val="008A9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4398264" y="3502152"/>
            <a:ext cx="132588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reusable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960" dirty="0"/>
          </a:p>
        </p:txBody>
      </p:sp>
      <p:sp>
        <p:nvSpPr>
          <p:cNvPr id="74" name="Shape 72"/>
          <p:cNvSpPr/>
          <p:nvPr/>
        </p:nvSpPr>
        <p:spPr>
          <a:xfrm>
            <a:off x="6181344" y="2322576"/>
            <a:ext cx="1426464" cy="384048"/>
          </a:xfrm>
          <a:prstGeom prst="roundRect">
            <a:avLst>
              <a:gd name="adj" fmla="val 23810"/>
            </a:avLst>
          </a:prstGeom>
          <a:solidFill>
            <a:srgbClr val="F8FEFF"/>
          </a:solidFill>
          <a:ln w="11430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6245352" y="2350008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6510528" y="2350008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6181344" y="2880360"/>
            <a:ext cx="1426464" cy="384048"/>
          </a:xfrm>
          <a:prstGeom prst="roundRect">
            <a:avLst>
              <a:gd name="adj" fmla="val 23810"/>
            </a:avLst>
          </a:prstGeom>
          <a:solidFill>
            <a:srgbClr val="F8FEFF"/>
          </a:solidFill>
          <a:ln w="11430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6245352" y="2907792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500" dirty="0"/>
          </a:p>
        </p:txBody>
      </p:sp>
      <p:sp>
        <p:nvSpPr>
          <p:cNvPr id="79" name="Text 77"/>
          <p:cNvSpPr/>
          <p:nvPr/>
        </p:nvSpPr>
        <p:spPr>
          <a:xfrm>
            <a:off x="6510528" y="290779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</a:t>
            </a:r>
            <a:endParaRPr lang="en-US" sz="960" dirty="0"/>
          </a:p>
        </p:txBody>
      </p:sp>
      <p:sp>
        <p:nvSpPr>
          <p:cNvPr id="80" name="Shape 78"/>
          <p:cNvSpPr/>
          <p:nvPr/>
        </p:nvSpPr>
        <p:spPr>
          <a:xfrm>
            <a:off x="6181344" y="3438144"/>
            <a:ext cx="1426464" cy="384048"/>
          </a:xfrm>
          <a:prstGeom prst="roundRect">
            <a:avLst>
              <a:gd name="adj" fmla="val 23810"/>
            </a:avLst>
          </a:prstGeom>
          <a:solidFill>
            <a:srgbClr val="F8FEFF"/>
          </a:solidFill>
          <a:ln w="11430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6245352" y="3465576"/>
            <a:ext cx="237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6510528" y="3465576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60" dirty="0"/>
          </a:p>
        </p:txBody>
      </p:sp>
      <p:sp>
        <p:nvSpPr>
          <p:cNvPr id="83" name="Text 81"/>
          <p:cNvSpPr/>
          <p:nvPr/>
        </p:nvSpPr>
        <p:spPr>
          <a:xfrm>
            <a:off x="8284464" y="228600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920" dirty="0"/>
          </a:p>
        </p:txBody>
      </p:sp>
      <p:sp>
        <p:nvSpPr>
          <p:cNvPr id="84" name="Shape 82"/>
          <p:cNvSpPr/>
          <p:nvPr/>
        </p:nvSpPr>
        <p:spPr>
          <a:xfrm>
            <a:off x="8613648" y="251460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DDF9FB"/>
          </a:solidFill>
          <a:ln w="11430">
            <a:solidFill>
              <a:srgbClr val="08265B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8622792" y="251460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84464" y="301752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</a:t>
            </a:r>
            <a:endParaRPr lang="en-US" sz="920" dirty="0"/>
          </a:p>
        </p:txBody>
      </p:sp>
      <p:sp>
        <p:nvSpPr>
          <p:cNvPr id="87" name="Shape 85"/>
          <p:cNvSpPr/>
          <p:nvPr/>
        </p:nvSpPr>
        <p:spPr>
          <a:xfrm>
            <a:off x="8613648" y="3246120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DDF9FB"/>
          </a:solidFill>
          <a:ln w="11430">
            <a:solidFill>
              <a:srgbClr val="08265B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8622792" y="324612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∿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284464" y="3785616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</a:t>
            </a:r>
            <a:endParaRPr lang="en-US" sz="920" dirty="0"/>
          </a:p>
        </p:txBody>
      </p:sp>
      <p:sp>
        <p:nvSpPr>
          <p:cNvPr id="90" name="Shape 88"/>
          <p:cNvSpPr/>
          <p:nvPr/>
        </p:nvSpPr>
        <p:spPr>
          <a:xfrm>
            <a:off x="8631936" y="4023360"/>
            <a:ext cx="292608" cy="347472"/>
          </a:xfrm>
          <a:prstGeom prst="rect">
            <a:avLst/>
          </a:prstGeom>
          <a:solidFill>
            <a:srgbClr val="F4FEFF"/>
          </a:solidFill>
          <a:ln w="11430">
            <a:solidFill>
              <a:srgbClr val="08265B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8677656" y="4123944"/>
            <a:ext cx="192024" cy="0"/>
          </a:xfrm>
          <a:prstGeom prst="line">
            <a:avLst/>
          </a:prstGeom>
          <a:noFill/>
          <a:ln w="12700">
            <a:solidFill>
              <a:srgbClr val="008A95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8677656" y="4224528"/>
            <a:ext cx="192024" cy="0"/>
          </a:xfrm>
          <a:prstGeom prst="line">
            <a:avLst/>
          </a:prstGeom>
          <a:noFill/>
          <a:ln w="12700">
            <a:solidFill>
              <a:srgbClr val="008A95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10222992" y="2633472"/>
            <a:ext cx="64008" cy="228600"/>
          </a:xfrm>
          <a:prstGeom prst="rect">
            <a:avLst/>
          </a:prstGeom>
          <a:solidFill>
            <a:srgbClr val="F2B400"/>
          </a:solidFill>
          <a:ln w="12700">
            <a:solidFill>
              <a:srgbClr val="F2B4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10314432" y="2487168"/>
            <a:ext cx="64008" cy="374904"/>
          </a:xfrm>
          <a:prstGeom prst="rect">
            <a:avLst/>
          </a:prstGeom>
          <a:solidFill>
            <a:srgbClr val="F2B400"/>
          </a:solidFill>
          <a:ln w="12700">
            <a:solidFill>
              <a:srgbClr val="F2B4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10405872" y="2322576"/>
            <a:ext cx="64008" cy="539496"/>
          </a:xfrm>
          <a:prstGeom prst="rect">
            <a:avLst/>
          </a:prstGeom>
          <a:solidFill>
            <a:srgbClr val="F2B400"/>
          </a:solidFill>
          <a:ln w="12700">
            <a:solidFill>
              <a:srgbClr val="F2B40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10616184" y="24871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120" dirty="0"/>
          </a:p>
        </p:txBody>
      </p:sp>
      <p:sp>
        <p:nvSpPr>
          <p:cNvPr id="97" name="Text 95"/>
          <p:cNvSpPr/>
          <p:nvPr/>
        </p:nvSpPr>
        <p:spPr>
          <a:xfrm>
            <a:off x="10195560" y="34747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2100" dirty="0"/>
          </a:p>
        </p:txBody>
      </p:sp>
      <p:sp>
        <p:nvSpPr>
          <p:cNvPr id="98" name="Text 96"/>
          <p:cNvSpPr/>
          <p:nvPr/>
        </p:nvSpPr>
        <p:spPr>
          <a:xfrm>
            <a:off x="10634472" y="34838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SFTP</a:t>
            </a:r>
            <a:endParaRPr lang="en-US" sz="1120" dirty="0"/>
          </a:p>
        </p:txBody>
      </p:sp>
      <p:sp>
        <p:nvSpPr>
          <p:cNvPr id="99" name="Shape 97"/>
          <p:cNvSpPr/>
          <p:nvPr/>
        </p:nvSpPr>
        <p:spPr>
          <a:xfrm>
            <a:off x="256032" y="4709160"/>
            <a:ext cx="8046720" cy="1417320"/>
          </a:xfrm>
          <a:prstGeom prst="roundRect">
            <a:avLst>
              <a:gd name="adj" fmla="val 7742"/>
            </a:avLst>
          </a:prstGeom>
          <a:solidFill>
            <a:srgbClr val="F3FAFB"/>
          </a:solidFill>
          <a:ln w="12700">
            <a:solidFill>
              <a:srgbClr val="F3FA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457200" y="4910328"/>
            <a:ext cx="2834640" cy="0"/>
          </a:xfrm>
          <a:prstGeom prst="line">
            <a:avLst/>
          </a:prstGeom>
          <a:noFill/>
          <a:ln w="12700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3383280" y="47823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Benefits</a:t>
            </a:r>
            <a:endParaRPr lang="en-US" sz="1250" dirty="0"/>
          </a:p>
        </p:txBody>
      </p:sp>
      <p:sp>
        <p:nvSpPr>
          <p:cNvPr id="102" name="Shape 100"/>
          <p:cNvSpPr/>
          <p:nvPr/>
        </p:nvSpPr>
        <p:spPr>
          <a:xfrm>
            <a:off x="4937760" y="4910328"/>
            <a:ext cx="3017520" cy="0"/>
          </a:xfrm>
          <a:prstGeom prst="line">
            <a:avLst/>
          </a:prstGeom>
          <a:noFill/>
          <a:ln w="12700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402336" y="5093208"/>
            <a:ext cx="139903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795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448056" y="514807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↻</a:t>
            </a:r>
            <a:endParaRPr lang="en-US" sz="1700" dirty="0"/>
          </a:p>
        </p:txBody>
      </p:sp>
      <p:sp>
        <p:nvSpPr>
          <p:cNvPr id="105" name="Text 103"/>
          <p:cNvSpPr/>
          <p:nvPr/>
        </p:nvSpPr>
        <p:spPr>
          <a:xfrm>
            <a:off x="448056" y="5385816"/>
            <a:ext cx="13075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Reusability</a:t>
            </a:r>
            <a:endParaRPr lang="en-US" sz="920" dirty="0"/>
          </a:p>
        </p:txBody>
      </p:sp>
      <p:sp>
        <p:nvSpPr>
          <p:cNvPr id="106" name="Text 104"/>
          <p:cNvSpPr/>
          <p:nvPr/>
        </p:nvSpPr>
        <p:spPr>
          <a:xfrm>
            <a:off x="475488" y="5586984"/>
            <a:ext cx="1252728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once, use many times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1956816" y="5093208"/>
            <a:ext cx="139903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795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2002536" y="514807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700" dirty="0"/>
          </a:p>
        </p:txBody>
      </p:sp>
      <p:sp>
        <p:nvSpPr>
          <p:cNvPr id="109" name="Text 107"/>
          <p:cNvSpPr/>
          <p:nvPr/>
        </p:nvSpPr>
        <p:spPr>
          <a:xfrm>
            <a:off x="2002536" y="5385816"/>
            <a:ext cx="13075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920" dirty="0"/>
          </a:p>
        </p:txBody>
      </p:sp>
      <p:sp>
        <p:nvSpPr>
          <p:cNvPr id="110" name="Text 108"/>
          <p:cNvSpPr/>
          <p:nvPr/>
        </p:nvSpPr>
        <p:spPr>
          <a:xfrm>
            <a:off x="2029968" y="5586984"/>
            <a:ext cx="1252728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more sources</a:t>
            </a:r>
            <a:endParaRPr lang="en-US" sz="690" dirty="0"/>
          </a:p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volumes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3511296" y="5093208"/>
            <a:ext cx="139903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795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3557016" y="514807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13" name="Text 111"/>
          <p:cNvSpPr/>
          <p:nvPr/>
        </p:nvSpPr>
        <p:spPr>
          <a:xfrm>
            <a:off x="3557016" y="5385816"/>
            <a:ext cx="13075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Standardisation</a:t>
            </a:r>
            <a:endParaRPr lang="en-US" sz="920" dirty="0"/>
          </a:p>
        </p:txBody>
      </p:sp>
      <p:sp>
        <p:nvSpPr>
          <p:cNvPr id="114" name="Text 112"/>
          <p:cNvSpPr/>
          <p:nvPr/>
        </p:nvSpPr>
        <p:spPr>
          <a:xfrm>
            <a:off x="3584448" y="5586984"/>
            <a:ext cx="1252728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patterns</a:t>
            </a:r>
            <a:endParaRPr lang="en-US" sz="690" dirty="0"/>
          </a:p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pipelines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5065776" y="5093208"/>
            <a:ext cx="139903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795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5111496" y="514807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⊕</a:t>
            </a:r>
            <a:endParaRPr lang="en-US" sz="1700" dirty="0"/>
          </a:p>
        </p:txBody>
      </p:sp>
      <p:sp>
        <p:nvSpPr>
          <p:cNvPr id="117" name="Text 115"/>
          <p:cNvSpPr/>
          <p:nvPr/>
        </p:nvSpPr>
        <p:spPr>
          <a:xfrm>
            <a:off x="5111496" y="5385816"/>
            <a:ext cx="13075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Onboarding</a:t>
            </a:r>
            <a:endParaRPr lang="en-US" sz="920" dirty="0"/>
          </a:p>
        </p:txBody>
      </p:sp>
      <p:sp>
        <p:nvSpPr>
          <p:cNvPr id="118" name="Text 116"/>
          <p:cNvSpPr/>
          <p:nvPr/>
        </p:nvSpPr>
        <p:spPr>
          <a:xfrm>
            <a:off x="5138928" y="5586984"/>
            <a:ext cx="1252728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new sources</a:t>
            </a:r>
            <a:endParaRPr lang="en-US" sz="690" dirty="0"/>
          </a:p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6620256" y="5093208"/>
            <a:ext cx="1399032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795">
            <a:solidFill>
              <a:srgbClr val="A9DDE4"/>
            </a:solidFill>
            <a:prstDash val="solid"/>
          </a:ln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665976" y="514807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⚒</a:t>
            </a:r>
            <a:endParaRPr lang="en-US" sz="1700" dirty="0"/>
          </a:p>
        </p:txBody>
      </p:sp>
      <p:sp>
        <p:nvSpPr>
          <p:cNvPr id="121" name="Text 119"/>
          <p:cNvSpPr/>
          <p:nvPr/>
        </p:nvSpPr>
        <p:spPr>
          <a:xfrm>
            <a:off x="6665976" y="5385816"/>
            <a:ext cx="130759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82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Simpler Maintenance</a:t>
            </a:r>
            <a:endParaRPr lang="en-US" sz="920" dirty="0"/>
          </a:p>
        </p:txBody>
      </p:sp>
      <p:sp>
        <p:nvSpPr>
          <p:cNvPr id="122" name="Text 120"/>
          <p:cNvSpPr/>
          <p:nvPr/>
        </p:nvSpPr>
        <p:spPr>
          <a:xfrm>
            <a:off x="6693408" y="5586984"/>
            <a:ext cx="1252728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in one place,</a:t>
            </a:r>
            <a:endParaRPr lang="en-US" sz="690" dirty="0"/>
          </a:p>
          <a:p>
            <a:pPr algn="ctr" indent="0" marL="0">
              <a:buNone/>
            </a:pPr>
            <a:r>
              <a:rPr lang="en-US" sz="69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everywhere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8522208" y="4709160"/>
            <a:ext cx="3273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A9DDE4"/>
            </a:solidFill>
            <a:prstDash val="solid"/>
          </a:ln>
          <a:effectLst>
            <a:outerShdw sx="100000" sy="100000" kx="0" ky="0" algn="bl" rotWithShape="0" blurRad="25400" dist="50800" dir="2700000">
              <a:srgbClr val="D0D8E2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124" name="Shape 122"/>
          <p:cNvSpPr/>
          <p:nvPr/>
        </p:nvSpPr>
        <p:spPr>
          <a:xfrm>
            <a:off x="8522208" y="4709160"/>
            <a:ext cx="3273552" cy="393192"/>
          </a:xfrm>
          <a:prstGeom prst="roundRect">
            <a:avLst>
              <a:gd name="adj" fmla="val 27907"/>
            </a:avLst>
          </a:prstGeom>
          <a:solidFill>
            <a:srgbClr val="08265B"/>
          </a:solidFill>
          <a:ln w="12700">
            <a:solidFill>
              <a:srgbClr val="08265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5" name="Text 123"/>
          <p:cNvSpPr/>
          <p:nvPr/>
        </p:nvSpPr>
        <p:spPr>
          <a:xfrm>
            <a:off x="8650224" y="4773168"/>
            <a:ext cx="28346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◇  Framework Value</a:t>
            </a:r>
            <a:endParaRPr lang="en-US" sz="1250" dirty="0"/>
          </a:p>
        </p:txBody>
      </p:sp>
      <p:sp>
        <p:nvSpPr>
          <p:cNvPr id="126" name="Text 124"/>
          <p:cNvSpPr/>
          <p:nvPr/>
        </p:nvSpPr>
        <p:spPr>
          <a:xfrm>
            <a:off x="8741664" y="5202936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942832" y="5202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Minimises hardcoding</a:t>
            </a:r>
            <a:endParaRPr lang="en-US" sz="910" dirty="0"/>
          </a:p>
        </p:txBody>
      </p:sp>
      <p:sp>
        <p:nvSpPr>
          <p:cNvPr id="128" name="Text 126"/>
          <p:cNvSpPr/>
          <p:nvPr/>
        </p:nvSpPr>
        <p:spPr>
          <a:xfrm>
            <a:off x="8741664" y="5440680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8942832" y="5440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multiple source objects</a:t>
            </a:r>
            <a:endParaRPr lang="en-US" sz="910" dirty="0"/>
          </a:p>
        </p:txBody>
      </p:sp>
      <p:sp>
        <p:nvSpPr>
          <p:cNvPr id="130" name="Text 128"/>
          <p:cNvSpPr/>
          <p:nvPr/>
        </p:nvSpPr>
        <p:spPr>
          <a:xfrm>
            <a:off x="8741664" y="5678424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8942832" y="567842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Enables consistent processing patterns</a:t>
            </a:r>
            <a:endParaRPr lang="en-US" sz="910" dirty="0"/>
          </a:p>
        </p:txBody>
      </p:sp>
      <p:sp>
        <p:nvSpPr>
          <p:cNvPr id="132" name="Text 130"/>
          <p:cNvSpPr/>
          <p:nvPr/>
        </p:nvSpPr>
        <p:spPr>
          <a:xfrm>
            <a:off x="8741664" y="5916168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8942832" y="5916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0C1F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Accelerates new pipeline onboarding</a:t>
            </a:r>
            <a:endParaRPr lang="en-US" sz="910" dirty="0"/>
          </a:p>
        </p:txBody>
      </p:sp>
      <p:sp>
        <p:nvSpPr>
          <p:cNvPr id="134" name="Text 132"/>
          <p:cNvSpPr/>
          <p:nvPr/>
        </p:nvSpPr>
        <p:spPr>
          <a:xfrm>
            <a:off x="502920" y="6537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0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♡</a:t>
            </a:r>
            <a:endParaRPr lang="en-US" sz="1600" dirty="0"/>
          </a:p>
        </p:txBody>
      </p:sp>
      <p:sp>
        <p:nvSpPr>
          <p:cNvPr id="135" name="Shape 133"/>
          <p:cNvSpPr/>
          <p:nvPr/>
        </p:nvSpPr>
        <p:spPr>
          <a:xfrm>
            <a:off x="320040" y="6647688"/>
            <a:ext cx="155448" cy="0"/>
          </a:xfrm>
          <a:prstGeom prst="line">
            <a:avLst/>
          </a:prstGeom>
          <a:noFill/>
          <a:ln w="15240">
            <a:solidFill>
              <a:srgbClr val="008A95"/>
            </a:solidFill>
            <a:prstDash val="solid"/>
          </a:ln>
        </p:spPr>
        <p:txBody>
          <a:bodyPr/>
          <a:p/>
        </p:txBody>
      </p:sp>
      <p:sp>
        <p:nvSpPr>
          <p:cNvPr id="136" name="Shape 134"/>
          <p:cNvSpPr/>
          <p:nvPr/>
        </p:nvSpPr>
        <p:spPr>
          <a:xfrm>
            <a:off x="749808" y="6647688"/>
            <a:ext cx="155448" cy="0"/>
          </a:xfrm>
          <a:prstGeom prst="line">
            <a:avLst/>
          </a:prstGeom>
          <a:noFill/>
          <a:ln w="15240">
            <a:solidFill>
              <a:srgbClr val="008A95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SVHA Metadata-Driven Framework</dc:title>
  <dc:subject>SVHA Metadata-Driven Framework</dc:subject>
  <dc:creator>OpenAI</dc:creator>
  <cp:lastModifiedBy>OpenAI</cp:lastModifiedBy>
  <cp:revision>1</cp:revision>
  <dcterms:created xsi:type="dcterms:W3CDTF">2026-07-22T01:46:58Z</dcterms:created>
  <dcterms:modified xsi:type="dcterms:W3CDTF">2026-07-22T01:46:58Z</dcterms:modified>
</cp:coreProperties>
</file>