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2070080" y="320040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2417552" y="320040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2765024" y="320040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3112496" y="320040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2070080" y="612647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2417552" y="612647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12765024" y="612647"/>
            <a:ext cx="237744" cy="201168"/>
          </a:xfrm>
          <a:prstGeom prst="hexagon">
            <a:avLst/>
          </a:prstGeom>
          <a:solidFill>
            <a:srgbClr val="FFFFFF"/>
          </a:solidFill>
          <a:ln w="13970">
            <a:solidFill>
              <a:srgbClr val="C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04520" y="493776"/>
            <a:ext cx="256032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600" b="1">
                <a:solidFill>
                  <a:srgbClr val="8CCCC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"/>
            <a:ext cx="138074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3000" b="1">
                <a:solidFill>
                  <a:srgbClr val="072656"/>
                </a:solidFill>
                <a:latin typeface="Aptos"/>
              </a:defRPr>
            </a:pPr>
            <a:r>
              <a:t>OneLake to SFTP File Transfer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804672"/>
            <a:ext cx="138074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600" b="0">
                <a:solidFill>
                  <a:srgbClr val="5A697D"/>
                </a:solidFill>
                <a:latin typeface="Aptos"/>
              </a:defRPr>
            </a:pPr>
            <a:r>
              <a:t>Azure Function based secure file movement from Microsoft Fabric OneLake to SFTP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651760"/>
            <a:ext cx="2148840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2651760"/>
            <a:ext cx="2148840" cy="512064"/>
          </a:xfrm>
          <a:prstGeom prst="roundRect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07791"/>
            <a:ext cx="2148840" cy="256032"/>
          </a:xfrm>
          <a:prstGeom prst="rect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743200"/>
            <a:ext cx="2002536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Trigger / Invocation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120140" y="2322576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C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7572" y="2386584"/>
            <a:ext cx="402336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>
                <a:solidFill>
                  <a:srgbClr val="0058B4"/>
                </a:solidFill>
                <a:latin typeface="Aptos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154680"/>
            <a:ext cx="594360" cy="438912"/>
          </a:xfrm>
          <a:prstGeom prst="roundRect">
            <a:avLst/>
          </a:prstGeom>
          <a:solidFill>
            <a:srgbClr val="EBF6FF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227832"/>
            <a:ext cx="475488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900" b="1">
                <a:solidFill>
                  <a:srgbClr val="0058B4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977639"/>
            <a:ext cx="1828800" cy="1005840"/>
          </a:xfrm>
          <a:prstGeom prst="rect">
            <a:avLst/>
          </a:prstGeom>
          <a:noFill/>
        </p:spPr>
        <p:txBody>
          <a:bodyPr wrap="square" lIns="36576" rIns="18288" tIns="9144" bIns="9144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F37"/>
                </a:solidFill>
                <a:latin typeface="Aptos"/>
              </a:defRPr>
            </a:pPr>
            <a:r>
              <a:t>•  Manual HTTP trigger</a:t>
            </a:r>
          </a:p>
          <a:p>
            <a:pPr>
              <a:spcAft>
                <a:spcPts val="500"/>
              </a:spcAft>
              <a:defRPr sz="1100">
                <a:solidFill>
                  <a:srgbClr val="0F1F37"/>
                </a:solidFill>
                <a:latin typeface="Aptos"/>
              </a:defRPr>
            </a:pPr>
            <a:r>
              <a:t>•  Fabric pipeline invocation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2651760"/>
            <a:ext cx="2240280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6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71800" y="2651760"/>
            <a:ext cx="2240280" cy="512064"/>
          </a:xfrm>
          <a:prstGeom prst="roundRect">
            <a:avLst/>
          </a:prstGeom>
          <a:solidFill>
            <a:srgbClr val="006870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2907791"/>
            <a:ext cx="2240280" cy="256032"/>
          </a:xfrm>
          <a:prstGeom prst="rect">
            <a:avLst/>
          </a:prstGeom>
          <a:solidFill>
            <a:srgbClr val="006870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2743200"/>
            <a:ext cx="2093976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Microsoft Fabric</a:t>
            </a:r>
            <a:br/>
            <a:r>
              <a:t>OneLake / Lakehouse</a:t>
            </a:r>
          </a:p>
        </p:txBody>
      </p:sp>
      <p:sp>
        <p:nvSpPr>
          <p:cNvPr id="26" name="Oval 25"/>
          <p:cNvSpPr/>
          <p:nvPr/>
        </p:nvSpPr>
        <p:spPr>
          <a:xfrm>
            <a:off x="3863339" y="2322576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C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0772" y="2386584"/>
            <a:ext cx="402336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>
                <a:solidFill>
                  <a:srgbClr val="006870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3447288"/>
            <a:ext cx="841248" cy="457200"/>
          </a:xfrm>
          <a:prstGeom prst="roundRect">
            <a:avLst/>
          </a:prstGeom>
          <a:solidFill>
            <a:srgbClr val="008988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66160" y="3337560"/>
            <a:ext cx="378561" cy="182880"/>
          </a:xfrm>
          <a:prstGeom prst="roundRect">
            <a:avLst/>
          </a:prstGeom>
          <a:solidFill>
            <a:srgbClr val="008988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cument 29"/>
          <p:cNvSpPr/>
          <p:nvPr/>
        </p:nvSpPr>
        <p:spPr>
          <a:xfrm>
            <a:off x="4434840" y="3364992"/>
            <a:ext cx="384048" cy="530352"/>
          </a:xfrm>
          <a:prstGeom prst="flowChartDocument">
            <a:avLst/>
          </a:prstGeom>
          <a:solidFill>
            <a:srgbClr val="F5F9FC"/>
          </a:solidFill>
          <a:ln w="13970">
            <a:solidFill>
              <a:srgbClr val="07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82112" y="4160520"/>
            <a:ext cx="1828800" cy="1005840"/>
          </a:xfrm>
          <a:prstGeom prst="rect">
            <a:avLst/>
          </a:prstGeom>
          <a:noFill/>
        </p:spPr>
        <p:txBody>
          <a:bodyPr wrap="square" lIns="36576" rIns="18288" tIns="9144" bIns="9144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Source folder</a:t>
            </a:r>
          </a:p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Files/processed/Dataverse</a:t>
            </a:r>
          </a:p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CSV files ready for transfer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2852928"/>
            <a:ext cx="3246120" cy="25786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15000" y="2852928"/>
            <a:ext cx="3246120" cy="548640"/>
          </a:xfrm>
          <a:prstGeom prst="roundRect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0" y="3136392"/>
            <a:ext cx="3246120" cy="265176"/>
          </a:xfrm>
          <a:prstGeom prst="rect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2962656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⚡  Azure Function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2" y="3547872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>
                <a:solidFill>
                  <a:srgbClr val="0058B4"/>
                </a:solidFill>
                <a:latin typeface="Aptos"/>
              </a:defRPr>
            </a:pPr>
            <a:r>
              <a:t>move_onelake_files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50208"/>
            <a:ext cx="2651760" cy="1325880"/>
          </a:xfrm>
          <a:prstGeom prst="rect">
            <a:avLst/>
          </a:prstGeom>
          <a:noFill/>
        </p:spPr>
        <p:txBody>
          <a:bodyPr wrap="square" lIns="36576" rIns="18288" tIns="9144" bIns="9144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Reads request parameters</a:t>
            </a:r>
          </a:p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Lists files in OneLake</a:t>
            </a:r>
          </a:p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Validates expected file count</a:t>
            </a:r>
          </a:p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Uploads files to SFTP</a:t>
            </a:r>
          </a:p>
          <a:p>
            <a:pPr>
              <a:spcAft>
                <a:spcPts val="500"/>
              </a:spcAft>
              <a:defRPr sz="1050">
                <a:solidFill>
                  <a:srgbClr val="0F1F37"/>
                </a:solidFill>
                <a:latin typeface="Aptos"/>
              </a:defRPr>
            </a:pPr>
            <a:r>
              <a:t>•  Optional delete after upload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1344168"/>
            <a:ext cx="370332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B3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943600" y="1719072"/>
            <a:ext cx="292608" cy="347472"/>
          </a:xfrm>
          <a:prstGeom prst="roundRect">
            <a:avLst/>
          </a:prstGeom>
          <a:solidFill>
            <a:srgbClr val="5B369B"/>
          </a:solidFill>
          <a:ln w="13970">
            <a:solidFill>
              <a:srgbClr val="5B3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63640" y="1783080"/>
            <a:ext cx="201168" cy="201168"/>
          </a:xfrm>
          <a:prstGeom prst="ellipse">
            <a:avLst/>
          </a:prstGeom>
          <a:solidFill>
            <a:srgbClr val="F0B125"/>
          </a:solidFill>
          <a:ln w="13970">
            <a:solidFill>
              <a:srgbClr val="F0B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1490472"/>
            <a:ext cx="2514600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300" b="1">
                <a:solidFill>
                  <a:srgbClr val="5B369B"/>
                </a:solidFill>
                <a:latin typeface="Aptos"/>
              </a:defRPr>
            </a:pPr>
            <a:r>
              <a:t>Managed Identity &amp; Key Vault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1755648"/>
            <a:ext cx="2560320" cy="566928"/>
          </a:xfrm>
          <a:prstGeom prst="rect">
            <a:avLst/>
          </a:prstGeom>
          <a:noFill/>
        </p:spPr>
        <p:txBody>
          <a:bodyPr wrap="square" lIns="36576" rIns="18288" tIns="9144" bIns="9144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0F1F37"/>
                </a:solidFill>
                <a:latin typeface="Aptos"/>
              </a:defRPr>
            </a:pPr>
            <a:r>
              <a:t>•  Managed Identity authentication</a:t>
            </a:r>
          </a:p>
          <a:p>
            <a:pPr>
              <a:spcAft>
                <a:spcPts val="500"/>
              </a:spcAft>
              <a:defRPr sz="930">
                <a:solidFill>
                  <a:srgbClr val="0F1F37"/>
                </a:solidFill>
                <a:latin typeface="Aptos"/>
              </a:defRPr>
            </a:pPr>
            <a:r>
              <a:t>•  Reads SFTP secrets</a:t>
            </a:r>
          </a:p>
          <a:p>
            <a:pPr>
              <a:spcAft>
                <a:spcPts val="500"/>
              </a:spcAft>
              <a:defRPr sz="930">
                <a:solidFill>
                  <a:srgbClr val="0F1F37"/>
                </a:solidFill>
                <a:latin typeface="Aptos"/>
              </a:defRPr>
            </a:pPr>
            <a:r>
              <a:t>•  Host / Port / Username / Password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7287768" y="2514600"/>
            <a:ext cx="384048" cy="384048"/>
          </a:xfrm>
          <a:prstGeom prst="downArrow">
            <a:avLst/>
          </a:prstGeom>
          <a:solidFill>
            <a:srgbClr val="5B369B"/>
          </a:solidFill>
          <a:ln w="13970">
            <a:solidFill>
              <a:srgbClr val="5B3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72600" y="3246120"/>
            <a:ext cx="178308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8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336499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058B4"/>
                </a:solidFill>
                <a:latin typeface="Aptos"/>
              </a:defRPr>
            </a:pPr>
            <a:r>
              <a:t>Input parameters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3703320"/>
            <a:ext cx="1389888" cy="868680"/>
          </a:xfrm>
          <a:prstGeom prst="rect">
            <a:avLst/>
          </a:prstGeom>
          <a:noFill/>
        </p:spPr>
        <p:txBody>
          <a:bodyPr wrap="square" lIns="36576" rIns="18288" tIns="9144" bIns="9144">
            <a:spAutoFit/>
          </a:bodyPr>
          <a:lstStyle/>
          <a:p>
            <a:pPr>
              <a:spcAft>
                <a:spcPts val="500"/>
              </a:spcAft>
              <a:defRPr sz="880">
                <a:solidFill>
                  <a:srgbClr val="0F1F37"/>
                </a:solidFill>
                <a:latin typeface="Aptos"/>
              </a:defRPr>
            </a:pPr>
            <a:r>
              <a:t>•  processing_date</a:t>
            </a:r>
          </a:p>
          <a:p>
            <a:pPr>
              <a:spcAft>
                <a:spcPts val="500"/>
              </a:spcAft>
              <a:defRPr sz="880">
                <a:solidFill>
                  <a:srgbClr val="0F1F37"/>
                </a:solidFill>
                <a:latin typeface="Aptos"/>
              </a:defRPr>
            </a:pPr>
            <a:r>
              <a:t>•  file_pattern</a:t>
            </a:r>
          </a:p>
          <a:p>
            <a:pPr>
              <a:spcAft>
                <a:spcPts val="500"/>
              </a:spcAft>
              <a:defRPr sz="880">
                <a:solidFill>
                  <a:srgbClr val="0F1F37"/>
                </a:solidFill>
                <a:latin typeface="Aptos"/>
              </a:defRPr>
            </a:pPr>
            <a:r>
              <a:t>•  recursive</a:t>
            </a:r>
          </a:p>
          <a:p>
            <a:pPr>
              <a:spcAft>
                <a:spcPts val="500"/>
              </a:spcAft>
              <a:defRPr sz="880">
                <a:solidFill>
                  <a:srgbClr val="0F1F37"/>
                </a:solidFill>
                <a:latin typeface="Aptos"/>
              </a:defRPr>
            </a:pPr>
            <a:r>
              <a:t>•  expected_file_count</a:t>
            </a:r>
          </a:p>
          <a:p>
            <a:pPr>
              <a:spcAft>
                <a:spcPts val="500"/>
              </a:spcAft>
              <a:defRPr sz="880">
                <a:solidFill>
                  <a:srgbClr val="0F1F37"/>
                </a:solidFill>
                <a:latin typeface="Aptos"/>
              </a:defRPr>
            </a:pPr>
            <a:r>
              <a:t>•  overwrite_sftp_file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4050791"/>
            <a:ext cx="411480" cy="18288"/>
          </a:xfrm>
          <a:prstGeom prst="rect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841480" y="2651760"/>
            <a:ext cx="2514600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6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841480" y="2651760"/>
            <a:ext cx="2514600" cy="512064"/>
          </a:xfrm>
          <a:prstGeom prst="roundRect">
            <a:avLst/>
          </a:prstGeom>
          <a:solidFill>
            <a:srgbClr val="006870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841480" y="2907791"/>
            <a:ext cx="2514600" cy="256032"/>
          </a:xfrm>
          <a:prstGeom prst="rect">
            <a:avLst/>
          </a:prstGeom>
          <a:solidFill>
            <a:srgbClr val="006870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14632" y="2743200"/>
            <a:ext cx="2368296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SFTP Server</a:t>
            </a:r>
          </a:p>
        </p:txBody>
      </p:sp>
      <p:sp>
        <p:nvSpPr>
          <p:cNvPr id="52" name="Oval 51"/>
          <p:cNvSpPr/>
          <p:nvPr/>
        </p:nvSpPr>
        <p:spPr>
          <a:xfrm>
            <a:off x="12870180" y="2322576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C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97611" y="2386584"/>
            <a:ext cx="402336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800" b="1">
                <a:solidFill>
                  <a:srgbClr val="006870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26112" y="3291840"/>
            <a:ext cx="731520" cy="713232"/>
          </a:xfrm>
          <a:prstGeom prst="roundRect">
            <a:avLst/>
          </a:prstGeom>
          <a:solidFill>
            <a:srgbClr val="475564"/>
          </a:solidFill>
          <a:ln w="13970">
            <a:solidFill>
              <a:srgbClr val="47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390120" y="3410712"/>
            <a:ext cx="566928" cy="36576"/>
          </a:xfrm>
          <a:prstGeom prst="rect">
            <a:avLst/>
          </a:prstGeom>
          <a:solidFill>
            <a:srgbClr val="2D3746"/>
          </a:solidFill>
          <a:ln w="13970"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874752" y="3383280"/>
            <a:ext cx="54864" cy="54864"/>
          </a:xfrm>
          <a:prstGeom prst="ellipse">
            <a:avLst/>
          </a:prstGeom>
          <a:solidFill>
            <a:srgbClr val="7ED85B"/>
          </a:solidFill>
          <a:ln w="13970">
            <a:solidFill>
              <a:srgbClr val="7ED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390120" y="3639312"/>
            <a:ext cx="566928" cy="36576"/>
          </a:xfrm>
          <a:prstGeom prst="rect">
            <a:avLst/>
          </a:prstGeom>
          <a:solidFill>
            <a:srgbClr val="2D3746"/>
          </a:solidFill>
          <a:ln w="13970"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74752" y="3611880"/>
            <a:ext cx="54864" cy="54864"/>
          </a:xfrm>
          <a:prstGeom prst="ellipse">
            <a:avLst/>
          </a:prstGeom>
          <a:solidFill>
            <a:srgbClr val="7ED85B"/>
          </a:solidFill>
          <a:ln w="13970">
            <a:solidFill>
              <a:srgbClr val="7ED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390120" y="3867912"/>
            <a:ext cx="566928" cy="36576"/>
          </a:xfrm>
          <a:prstGeom prst="rect">
            <a:avLst/>
          </a:prstGeom>
          <a:solidFill>
            <a:srgbClr val="2D3746"/>
          </a:solidFill>
          <a:ln w="13970"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2874752" y="3840480"/>
            <a:ext cx="54864" cy="54864"/>
          </a:xfrm>
          <a:prstGeom prst="ellipse">
            <a:avLst/>
          </a:prstGeom>
          <a:solidFill>
            <a:srgbClr val="7ED85B"/>
          </a:solidFill>
          <a:ln w="13970">
            <a:solidFill>
              <a:srgbClr val="7ED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3121640" y="3630168"/>
            <a:ext cx="640080" cy="347472"/>
          </a:xfrm>
          <a:prstGeom prst="roundRect">
            <a:avLst/>
          </a:prstGeom>
          <a:solidFill>
            <a:srgbClr val="F0B125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3167360" y="3520440"/>
            <a:ext cx="288036" cy="182880"/>
          </a:xfrm>
          <a:prstGeom prst="roundRect">
            <a:avLst/>
          </a:prstGeom>
          <a:solidFill>
            <a:srgbClr val="F0B125"/>
          </a:solidFill>
          <a:ln w="13970">
            <a:solidFill>
              <a:srgbClr val="0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051792" y="4315968"/>
            <a:ext cx="2011680" cy="868680"/>
          </a:xfrm>
          <a:prstGeom prst="rect">
            <a:avLst/>
          </a:prstGeom>
          <a:noFill/>
        </p:spPr>
        <p:txBody>
          <a:bodyPr wrap="square" lIns="36576" rIns="18288" tIns="9144" bIns="9144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0F1F37"/>
                </a:solidFill>
                <a:latin typeface="Aptos"/>
              </a:defRPr>
            </a:pPr>
            <a:r>
              <a:t>•  Target folder: inbox</a:t>
            </a:r>
          </a:p>
          <a:p>
            <a:pPr>
              <a:spcAft>
                <a:spcPts val="500"/>
              </a:spcAft>
              <a:defRPr sz="1019">
                <a:solidFill>
                  <a:srgbClr val="0F1F37"/>
                </a:solidFill>
                <a:latin typeface="Aptos"/>
              </a:defRPr>
            </a:pPr>
            <a:r>
              <a:t>•  Files transferred securely</a:t>
            </a:r>
          </a:p>
          <a:p>
            <a:pPr>
              <a:spcAft>
                <a:spcPts val="500"/>
              </a:spcAft>
              <a:defRPr sz="1019">
                <a:solidFill>
                  <a:srgbClr val="0F1F37"/>
                </a:solidFill>
                <a:latin typeface="Aptos"/>
              </a:defRPr>
            </a:pPr>
            <a:r>
              <a:t>•  Supports overwrite option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423160" y="3986784"/>
            <a:ext cx="548640" cy="201168"/>
          </a:xfrm>
          <a:prstGeom prst="rightArrow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ight Arrow 64"/>
          <p:cNvSpPr/>
          <p:nvPr/>
        </p:nvSpPr>
        <p:spPr>
          <a:xfrm>
            <a:off x="5212080" y="3986784"/>
            <a:ext cx="502920" cy="201168"/>
          </a:xfrm>
          <a:prstGeom prst="rightArrow">
            <a:avLst/>
          </a:prstGeom>
          <a:solidFill>
            <a:srgbClr val="008988"/>
          </a:solidFill>
          <a:ln w="13970">
            <a:solidFill>
              <a:srgbClr val="008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8961120" y="3986784"/>
            <a:ext cx="2880360" cy="201168"/>
          </a:xfrm>
          <a:prstGeom prst="rightArrow">
            <a:avLst/>
          </a:prstGeom>
          <a:solidFill>
            <a:srgbClr val="008988"/>
          </a:solidFill>
          <a:ln w="13970">
            <a:solidFill>
              <a:srgbClr val="008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566160" y="5715000"/>
            <a:ext cx="7680960" cy="1298448"/>
          </a:xfrm>
          <a:prstGeom prst="roundRect">
            <a:avLst/>
          </a:prstGeom>
          <a:solidFill>
            <a:srgbClr val="F8FCFE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5797296"/>
            <a:ext cx="23774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600" b="1">
                <a:solidFill>
                  <a:srgbClr val="0058B4"/>
                </a:solidFill>
                <a:latin typeface="Aptos"/>
              </a:defRPr>
            </a:pPr>
            <a:r>
              <a:t>Monitoring &amp; Control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730752" y="6245352"/>
            <a:ext cx="2084831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877056" y="6345936"/>
            <a:ext cx="292608" cy="292608"/>
          </a:xfrm>
          <a:prstGeom prst="ellipse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86200" y="6382512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6318504"/>
            <a:ext cx="14173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50" b="0">
                <a:solidFill>
                  <a:srgbClr val="0F1F37"/>
                </a:solidFill>
                <a:latin typeface="Aptos"/>
              </a:defRPr>
            </a:pPr>
            <a:r>
              <a:t>Function Logs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53328" y="6245352"/>
            <a:ext cx="2084831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199632" y="6345936"/>
            <a:ext cx="292608" cy="292608"/>
          </a:xfrm>
          <a:prstGeom prst="ellipse">
            <a:avLst/>
          </a:prstGeom>
          <a:solidFill>
            <a:srgbClr val="5B369B"/>
          </a:solidFill>
          <a:ln w="13970">
            <a:solidFill>
              <a:srgbClr val="5B3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08776" y="6382512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0256" y="6318504"/>
            <a:ext cx="14173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50" b="0">
                <a:solidFill>
                  <a:srgbClr val="0F1F37"/>
                </a:solidFill>
                <a:latin typeface="Aptos"/>
              </a:defRPr>
            </a:pPr>
            <a:r>
              <a:t>Application Insights /</a:t>
            </a:r>
            <a:br/>
            <a:r>
              <a:t>Log stream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13648" y="6245352"/>
            <a:ext cx="2084831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759952" y="6345936"/>
            <a:ext cx="292608" cy="292608"/>
          </a:xfrm>
          <a:prstGeom prst="ellipse">
            <a:avLst/>
          </a:prstGeom>
          <a:solidFill>
            <a:srgbClr val="239A46"/>
          </a:solidFill>
          <a:ln w="13970">
            <a:solidFill>
              <a:srgbClr val="239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69096" y="6382512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0576" y="6318504"/>
            <a:ext cx="14173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50" b="0">
                <a:solidFill>
                  <a:srgbClr val="0F1F37"/>
                </a:solidFill>
                <a:latin typeface="Aptos"/>
              </a:defRPr>
            </a:pPr>
            <a:r>
              <a:t>Success / Failure</a:t>
            </a:r>
            <a:br/>
            <a:r>
              <a:t>response</a:t>
            </a:r>
          </a:p>
        </p:txBody>
      </p:sp>
      <p:sp>
        <p:nvSpPr>
          <p:cNvPr id="81" name="Down Arrow 80"/>
          <p:cNvSpPr/>
          <p:nvPr/>
        </p:nvSpPr>
        <p:spPr>
          <a:xfrm>
            <a:off x="7168896" y="5413248"/>
            <a:ext cx="384048" cy="310896"/>
          </a:xfrm>
          <a:prstGeom prst="downArrow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28600" y="7223760"/>
            <a:ext cx="14173200" cy="566928"/>
          </a:xfrm>
          <a:prstGeom prst="roundRect">
            <a:avLst/>
          </a:prstGeom>
          <a:solidFill>
            <a:srgbClr val="EBF5FC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28600" y="7223760"/>
            <a:ext cx="2240280" cy="566928"/>
          </a:xfrm>
          <a:prstGeom prst="roundRect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7388352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Process Summary</a:t>
            </a:r>
          </a:p>
        </p:txBody>
      </p:sp>
      <p:sp>
        <p:nvSpPr>
          <p:cNvPr id="85" name="Oval 84"/>
          <p:cNvSpPr/>
          <p:nvPr/>
        </p:nvSpPr>
        <p:spPr>
          <a:xfrm>
            <a:off x="2788920" y="7333488"/>
            <a:ext cx="292608" cy="292608"/>
          </a:xfrm>
          <a:prstGeom prst="ellipse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43784" y="7370064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0" y="7306056"/>
            <a:ext cx="1874519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0F1F37"/>
                </a:solidFill>
                <a:latin typeface="Aptos"/>
              </a:defRPr>
            </a:pPr>
            <a:r>
              <a:t>Trigger starts job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0" y="7306056"/>
            <a:ext cx="13716" cy="402336"/>
          </a:xfrm>
          <a:prstGeom prst="rect">
            <a:avLst/>
          </a:prstGeom>
          <a:solidFill>
            <a:srgbClr val="91A9C9"/>
          </a:solidFill>
          <a:ln w="13970">
            <a:solidFill>
              <a:srgbClr val="91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623560" y="7333488"/>
            <a:ext cx="292608" cy="292608"/>
          </a:xfrm>
          <a:prstGeom prst="ellipse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78424" y="7370064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35040" y="7306056"/>
            <a:ext cx="1874519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0F1F37"/>
                </a:solidFill>
                <a:latin typeface="Aptos"/>
              </a:defRPr>
            </a:pPr>
            <a:r>
              <a:t>Files are read</a:t>
            </a:r>
            <a:br/>
            <a:r>
              <a:t>from OneLake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55279" y="7306056"/>
            <a:ext cx="13716" cy="402336"/>
          </a:xfrm>
          <a:prstGeom prst="rect">
            <a:avLst/>
          </a:prstGeom>
          <a:solidFill>
            <a:srgbClr val="91A9C9"/>
          </a:solidFill>
          <a:ln w="13970">
            <a:solidFill>
              <a:srgbClr val="91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458200" y="7333488"/>
            <a:ext cx="292608" cy="292608"/>
          </a:xfrm>
          <a:prstGeom prst="ellipse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13064" y="7370064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69680" y="7306056"/>
            <a:ext cx="1874519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0F1F37"/>
                </a:solidFill>
                <a:latin typeface="Aptos"/>
              </a:defRPr>
            </a:pPr>
            <a:r>
              <a:t>Function authenticates and</a:t>
            </a:r>
            <a:br/>
            <a:r>
              <a:t>uploads to SFTP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789920" y="7306056"/>
            <a:ext cx="13716" cy="402336"/>
          </a:xfrm>
          <a:prstGeom prst="rect">
            <a:avLst/>
          </a:prstGeom>
          <a:solidFill>
            <a:srgbClr val="91A9C9"/>
          </a:solidFill>
          <a:ln w="13970">
            <a:solidFill>
              <a:srgbClr val="91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292840" y="7333488"/>
            <a:ext cx="292608" cy="292608"/>
          </a:xfrm>
          <a:prstGeom prst="ellipse">
            <a:avLst/>
          </a:prstGeom>
          <a:solidFill>
            <a:srgbClr val="0058B4"/>
          </a:solidFill>
          <a:ln w="13970">
            <a:solidFill>
              <a:srgbClr val="005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347704" y="7370064"/>
            <a:ext cx="1828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704319" y="7306056"/>
            <a:ext cx="1874519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0F1F37"/>
                </a:solidFill>
                <a:latin typeface="Aptos"/>
              </a:defRPr>
            </a:pPr>
            <a:r>
              <a:t>Logs and status</a:t>
            </a:r>
            <a:br/>
            <a:r>
              <a:t>are captured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7991856"/>
            <a:ext cx="14630400" cy="237744"/>
          </a:xfrm>
          <a:prstGeom prst="rect">
            <a:avLst/>
          </a:prstGeom>
          <a:solidFill>
            <a:srgbClr val="072656"/>
          </a:solidFill>
          <a:ln w="13970">
            <a:solidFill>
              <a:srgbClr val="07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