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6309360"/>
            <a:ext cx="13167360" cy="1005840"/>
          </a:xfrm>
          <a:prstGeom prst="arc">
            <a:avLst/>
          </a:prstGeom>
          <a:noFill/>
          <a:ln w="50800">
            <a:solidFill>
              <a:srgbClr val="05295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5295D"/>
          </a:solidFill>
          <a:ln w="12700">
            <a:solidFill>
              <a:srgbClr val="05295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6419088"/>
            <a:ext cx="8686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008C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♡ ───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241280" y="45720"/>
            <a:ext cx="228600" cy="201168"/>
          </a:xfrm>
          <a:prstGeom prst="hexagon">
            <a:avLst/>
          </a:prstGeom>
          <a:solidFill>
            <a:srgbClr val="FFFFFF">
              <a:alpha val="0"/>
            </a:srgbClr>
          </a:solidFill>
          <a:ln w="12700">
            <a:solidFill>
              <a:srgbClr val="B8E0E5">
                <a:alpha val="8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70464" y="45720"/>
            <a:ext cx="228600" cy="201168"/>
          </a:xfrm>
          <a:prstGeom prst="hexagon">
            <a:avLst/>
          </a:prstGeom>
          <a:solidFill>
            <a:srgbClr val="FFFFFF">
              <a:alpha val="0"/>
            </a:srgbClr>
          </a:solidFill>
          <a:ln w="12700">
            <a:solidFill>
              <a:srgbClr val="B8E0E5">
                <a:alpha val="8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899648" y="45720"/>
            <a:ext cx="228600" cy="201168"/>
          </a:xfrm>
          <a:prstGeom prst="hexagon">
            <a:avLst/>
          </a:prstGeom>
          <a:solidFill>
            <a:srgbClr val="FFFFFF">
              <a:alpha val="0"/>
            </a:srgbClr>
          </a:solidFill>
          <a:ln w="12700">
            <a:solidFill>
              <a:srgbClr val="B8E0E5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28832" y="45720"/>
            <a:ext cx="228600" cy="201168"/>
          </a:xfrm>
          <a:prstGeom prst="hexagon">
            <a:avLst/>
          </a:prstGeom>
          <a:solidFill>
            <a:srgbClr val="FFFFFF">
              <a:alpha val="0"/>
            </a:srgbClr>
          </a:solidFill>
          <a:ln w="12700">
            <a:solidFill>
              <a:srgbClr val="B8E0E5">
                <a:alpha val="8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558016" y="45720"/>
            <a:ext cx="228600" cy="201168"/>
          </a:xfrm>
          <a:prstGeom prst="hexagon">
            <a:avLst/>
          </a:prstGeom>
          <a:solidFill>
            <a:srgbClr val="FFFFFF">
              <a:alpha val="0"/>
            </a:srgbClr>
          </a:solidFill>
          <a:ln w="12700">
            <a:solidFill>
              <a:srgbClr val="B8E0E5">
                <a:alpha val="8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241280" y="338328"/>
            <a:ext cx="228600" cy="201168"/>
          </a:xfrm>
          <a:prstGeom prst="hexagon">
            <a:avLst/>
          </a:prstGeom>
          <a:solidFill>
            <a:srgbClr val="FFFFFF">
              <a:alpha val="0"/>
            </a:srgbClr>
          </a:solidFill>
          <a:ln w="12700">
            <a:solidFill>
              <a:srgbClr val="B8E0E5">
                <a:alpha val="8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570464" y="338328"/>
            <a:ext cx="228600" cy="201168"/>
          </a:xfrm>
          <a:prstGeom prst="hexagon">
            <a:avLst/>
          </a:prstGeom>
          <a:solidFill>
            <a:srgbClr val="FFFFFF">
              <a:alpha val="0"/>
            </a:srgbClr>
          </a:solidFill>
          <a:ln w="12700">
            <a:solidFill>
              <a:srgbClr val="B8E0E5">
                <a:alpha val="8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899648" y="338328"/>
            <a:ext cx="228600" cy="201168"/>
          </a:xfrm>
          <a:prstGeom prst="hexagon">
            <a:avLst/>
          </a:prstGeom>
          <a:solidFill>
            <a:srgbClr val="FFFFFF">
              <a:alpha val="0"/>
            </a:srgbClr>
          </a:solidFill>
          <a:ln w="12700">
            <a:solidFill>
              <a:srgbClr val="B8E0E5">
                <a:alpha val="8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228832" y="338328"/>
            <a:ext cx="228600" cy="201168"/>
          </a:xfrm>
          <a:prstGeom prst="hexagon">
            <a:avLst/>
          </a:prstGeom>
          <a:solidFill>
            <a:srgbClr val="FFFFFF">
              <a:alpha val="0"/>
            </a:srgbClr>
          </a:solidFill>
          <a:ln w="12700">
            <a:solidFill>
              <a:srgbClr val="B8E0E5">
                <a:alpha val="8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558016" y="338328"/>
            <a:ext cx="228600" cy="201168"/>
          </a:xfrm>
          <a:prstGeom prst="hexagon">
            <a:avLst/>
          </a:prstGeom>
          <a:solidFill>
            <a:srgbClr val="FFFFFF">
              <a:alpha val="0"/>
            </a:srgbClr>
          </a:solidFill>
          <a:ln w="12700">
            <a:solidFill>
              <a:srgbClr val="B8E0E5">
                <a:alpha val="8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09960" y="310896"/>
            <a:ext cx="411480" cy="365760"/>
          </a:xfrm>
          <a:prstGeom prst="hexagon">
            <a:avLst/>
          </a:prstGeom>
          <a:solidFill>
            <a:srgbClr val="EAF7F7">
              <a:alpha val="75000"/>
            </a:srgbClr>
          </a:solidFill>
          <a:ln w="12700">
            <a:solidFill>
              <a:srgbClr val="B8E0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109960" y="301752"/>
            <a:ext cx="4114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8C8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20040" y="219456"/>
            <a:ext cx="74066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529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SVHA Metadata-Driven Framework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347472" y="841248"/>
            <a:ext cx="73152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06B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Reusable, scalable and configurable data engineering framework in Microsoft Fabric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993392" y="2926080"/>
            <a:ext cx="82296" cy="0"/>
          </a:xfrm>
          <a:prstGeom prst="line">
            <a:avLst/>
          </a:prstGeom>
          <a:noFill/>
          <a:ln w="25400">
            <a:solidFill>
              <a:srgbClr val="008C95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913632" y="2926080"/>
            <a:ext cx="109728" cy="0"/>
          </a:xfrm>
          <a:prstGeom prst="line">
            <a:avLst/>
          </a:prstGeom>
          <a:noFill/>
          <a:ln w="25400">
            <a:solidFill>
              <a:srgbClr val="008C95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797296" y="2926080"/>
            <a:ext cx="91440" cy="0"/>
          </a:xfrm>
          <a:prstGeom prst="line">
            <a:avLst/>
          </a:prstGeom>
          <a:noFill/>
          <a:ln w="25400">
            <a:solidFill>
              <a:srgbClr val="008C95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973568" y="2926080"/>
            <a:ext cx="109728" cy="0"/>
          </a:xfrm>
          <a:prstGeom prst="line">
            <a:avLst/>
          </a:prstGeom>
          <a:noFill/>
          <a:ln w="25400">
            <a:solidFill>
              <a:srgbClr val="008C95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802368" y="2926080"/>
            <a:ext cx="128016" cy="0"/>
          </a:xfrm>
          <a:prstGeom prst="line">
            <a:avLst/>
          </a:prstGeom>
          <a:noFill/>
          <a:ln w="25400">
            <a:solidFill>
              <a:srgbClr val="008C95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228600" y="1600200"/>
            <a:ext cx="1691640" cy="2907792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8ABAC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8600" y="1600200"/>
            <a:ext cx="1691640" cy="566928"/>
          </a:xfrm>
          <a:prstGeom prst="roundRect">
            <a:avLst>
              <a:gd name="adj" fmla="val 19355"/>
            </a:avLst>
          </a:prstGeom>
          <a:solidFill>
            <a:srgbClr val="05295D"/>
          </a:solidFill>
          <a:ln w="12700">
            <a:solidFill>
              <a:srgbClr val="05295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8600" y="1984248"/>
            <a:ext cx="1691640" cy="182880"/>
          </a:xfrm>
          <a:prstGeom prst="rect">
            <a:avLst/>
          </a:prstGeom>
          <a:solidFill>
            <a:srgbClr val="05295D"/>
          </a:solidFill>
          <a:ln w="12700">
            <a:solidFill>
              <a:srgbClr val="05295D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68680" y="1344168"/>
            <a:ext cx="411480" cy="41148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9FCF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1357884"/>
            <a:ext cx="4114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29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▣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301752" y="1673352"/>
            <a:ext cx="1545336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Source Systems</a:t>
            </a:r>
            <a:endParaRPr lang="en-US" sz="1220" dirty="0"/>
          </a:p>
        </p:txBody>
      </p:sp>
      <p:sp>
        <p:nvSpPr>
          <p:cNvPr id="31" name="Shape 29"/>
          <p:cNvSpPr/>
          <p:nvPr/>
        </p:nvSpPr>
        <p:spPr>
          <a:xfrm>
            <a:off x="393192" y="2377440"/>
            <a:ext cx="256032" cy="256032"/>
          </a:xfrm>
          <a:prstGeom prst="ellipse">
            <a:avLst/>
          </a:prstGeom>
          <a:solidFill>
            <a:srgbClr val="25A750"/>
          </a:solidFill>
          <a:ln w="12700">
            <a:solidFill>
              <a:srgbClr val="25A7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93192" y="2372868"/>
            <a:ext cx="25603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◉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58952" y="2359152"/>
            <a:ext cx="103327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1122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Dataverse</a:t>
            </a:r>
            <a:endParaRPr lang="en-US" sz="1130" dirty="0"/>
          </a:p>
        </p:txBody>
      </p:sp>
      <p:sp>
        <p:nvSpPr>
          <p:cNvPr id="34" name="Shape 32"/>
          <p:cNvSpPr/>
          <p:nvPr/>
        </p:nvSpPr>
        <p:spPr>
          <a:xfrm>
            <a:off x="374904" y="2761488"/>
            <a:ext cx="1399032" cy="0"/>
          </a:xfrm>
          <a:prstGeom prst="line">
            <a:avLst/>
          </a:prstGeom>
          <a:noFill/>
          <a:ln w="12700">
            <a:solidFill>
              <a:srgbClr val="D6E5E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93192" y="2880360"/>
            <a:ext cx="256032" cy="256032"/>
          </a:xfrm>
          <a:prstGeom prst="ellipse">
            <a:avLst/>
          </a:prstGeom>
          <a:solidFill>
            <a:srgbClr val="3D8DFF"/>
          </a:solidFill>
          <a:ln w="12700">
            <a:solidFill>
              <a:srgbClr val="3D8D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93192" y="2875788"/>
            <a:ext cx="25603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☁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58952" y="2862072"/>
            <a:ext cx="103327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1122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GCS</a:t>
            </a:r>
            <a:endParaRPr lang="en-US" sz="1130" dirty="0"/>
          </a:p>
        </p:txBody>
      </p:sp>
      <p:sp>
        <p:nvSpPr>
          <p:cNvPr id="38" name="Shape 36"/>
          <p:cNvSpPr/>
          <p:nvPr/>
        </p:nvSpPr>
        <p:spPr>
          <a:xfrm>
            <a:off x="374904" y="3264408"/>
            <a:ext cx="1399032" cy="0"/>
          </a:xfrm>
          <a:prstGeom prst="line">
            <a:avLst/>
          </a:prstGeom>
          <a:noFill/>
          <a:ln w="12700">
            <a:solidFill>
              <a:srgbClr val="D6E5E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93192" y="3383280"/>
            <a:ext cx="256032" cy="256032"/>
          </a:xfrm>
          <a:prstGeom prst="ellipse">
            <a:avLst/>
          </a:prstGeom>
          <a:solidFill>
            <a:srgbClr val="3178C6"/>
          </a:solidFill>
          <a:ln w="12700">
            <a:solidFill>
              <a:srgbClr val="3178C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93192" y="3378708"/>
            <a:ext cx="25603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58952" y="3364992"/>
            <a:ext cx="103327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1122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BigQuery</a:t>
            </a:r>
            <a:endParaRPr lang="en-US" sz="1130" dirty="0"/>
          </a:p>
        </p:txBody>
      </p:sp>
      <p:sp>
        <p:nvSpPr>
          <p:cNvPr id="42" name="Shape 40"/>
          <p:cNvSpPr/>
          <p:nvPr/>
        </p:nvSpPr>
        <p:spPr>
          <a:xfrm>
            <a:off x="2148840" y="1600200"/>
            <a:ext cx="1691640" cy="2907792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8ABAC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148840" y="1600200"/>
            <a:ext cx="1691640" cy="566928"/>
          </a:xfrm>
          <a:prstGeom prst="roundRect">
            <a:avLst>
              <a:gd name="adj" fmla="val 19355"/>
            </a:avLst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148840" y="1984248"/>
            <a:ext cx="1691640" cy="182880"/>
          </a:xfrm>
          <a:prstGeom prst="rect">
            <a:avLst/>
          </a:prstGeom>
          <a:solidFill>
            <a:srgbClr val="008C95"/>
          </a:solidFill>
          <a:ln w="12700">
            <a:solidFill>
              <a:srgbClr val="008C95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788920" y="1344168"/>
            <a:ext cx="411480" cy="41148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9FCFD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88920" y="1357884"/>
            <a:ext cx="4114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6B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⚙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2221992" y="1673352"/>
            <a:ext cx="1545336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Metadata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Configuration</a:t>
            </a:r>
            <a:endParaRPr lang="en-US" sz="1220" dirty="0"/>
          </a:p>
        </p:txBody>
      </p:sp>
      <p:sp>
        <p:nvSpPr>
          <p:cNvPr id="48" name="Shape 46"/>
          <p:cNvSpPr/>
          <p:nvPr/>
        </p:nvSpPr>
        <p:spPr>
          <a:xfrm>
            <a:off x="2286000" y="2340864"/>
            <a:ext cx="50292" cy="50292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441448" y="2240280"/>
            <a:ext cx="12801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22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&amp; target paths</a:t>
            </a:r>
            <a:endParaRPr lang="en-US" sz="940" dirty="0"/>
          </a:p>
        </p:txBody>
      </p:sp>
      <p:sp>
        <p:nvSpPr>
          <p:cNvPr id="50" name="Shape 48"/>
          <p:cNvSpPr/>
          <p:nvPr/>
        </p:nvSpPr>
        <p:spPr>
          <a:xfrm>
            <a:off x="2286000" y="2688336"/>
            <a:ext cx="50292" cy="50292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441448" y="2587752"/>
            <a:ext cx="12801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22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 patterns</a:t>
            </a:r>
            <a:endParaRPr lang="en-US" sz="940" dirty="0"/>
          </a:p>
        </p:txBody>
      </p:sp>
      <p:sp>
        <p:nvSpPr>
          <p:cNvPr id="52" name="Shape 50"/>
          <p:cNvSpPr/>
          <p:nvPr/>
        </p:nvSpPr>
        <p:spPr>
          <a:xfrm>
            <a:off x="2286000" y="3035808"/>
            <a:ext cx="50292" cy="50292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441448" y="2935224"/>
            <a:ext cx="12801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22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 type</a:t>
            </a:r>
            <a:endParaRPr lang="en-US" sz="940" dirty="0"/>
          </a:p>
        </p:txBody>
      </p:sp>
      <p:sp>
        <p:nvSpPr>
          <p:cNvPr id="54" name="Shape 52"/>
          <p:cNvSpPr/>
          <p:nvPr/>
        </p:nvSpPr>
        <p:spPr>
          <a:xfrm>
            <a:off x="2286000" y="3383280"/>
            <a:ext cx="50292" cy="50292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441448" y="3282696"/>
            <a:ext cx="12801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22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Schedule group</a:t>
            </a:r>
            <a:endParaRPr lang="en-US" sz="940" dirty="0"/>
          </a:p>
        </p:txBody>
      </p:sp>
      <p:sp>
        <p:nvSpPr>
          <p:cNvPr id="56" name="Shape 54"/>
          <p:cNvSpPr/>
          <p:nvPr/>
        </p:nvSpPr>
        <p:spPr>
          <a:xfrm>
            <a:off x="2286000" y="3730752"/>
            <a:ext cx="50292" cy="50292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441448" y="3630168"/>
            <a:ext cx="12801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22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 sequence</a:t>
            </a:r>
            <a:endParaRPr lang="en-US" sz="940" dirty="0"/>
          </a:p>
        </p:txBody>
      </p:sp>
      <p:sp>
        <p:nvSpPr>
          <p:cNvPr id="58" name="Shape 56"/>
          <p:cNvSpPr/>
          <p:nvPr/>
        </p:nvSpPr>
        <p:spPr>
          <a:xfrm>
            <a:off x="2286000" y="4078224"/>
            <a:ext cx="50292" cy="50292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441448" y="3977640"/>
            <a:ext cx="12801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22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Active flag</a:t>
            </a:r>
            <a:endParaRPr lang="en-US" sz="940" dirty="0"/>
          </a:p>
        </p:txBody>
      </p:sp>
      <p:sp>
        <p:nvSpPr>
          <p:cNvPr id="60" name="Shape 58"/>
          <p:cNvSpPr/>
          <p:nvPr/>
        </p:nvSpPr>
        <p:spPr>
          <a:xfrm>
            <a:off x="4096512" y="1600200"/>
            <a:ext cx="1627632" cy="290779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8ABAC7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096512" y="1600200"/>
            <a:ext cx="1627632" cy="566928"/>
          </a:xfrm>
          <a:prstGeom prst="roundRect">
            <a:avLst>
              <a:gd name="adj" fmla="val 19355"/>
            </a:avLst>
          </a:prstGeom>
          <a:solidFill>
            <a:srgbClr val="05295D"/>
          </a:solidFill>
          <a:ln w="12700">
            <a:solidFill>
              <a:srgbClr val="05295D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096512" y="1984248"/>
            <a:ext cx="1627632" cy="182880"/>
          </a:xfrm>
          <a:prstGeom prst="rect">
            <a:avLst/>
          </a:prstGeom>
          <a:solidFill>
            <a:srgbClr val="05295D"/>
          </a:solidFill>
          <a:ln w="12700">
            <a:solidFill>
              <a:srgbClr val="05295D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704588" y="1344168"/>
            <a:ext cx="411480" cy="41148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9FCFD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704588" y="1357884"/>
            <a:ext cx="4114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29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⌘</a:t>
            </a:r>
            <a:endParaRPr lang="en-US" sz="1800" dirty="0"/>
          </a:p>
        </p:txBody>
      </p:sp>
      <p:sp>
        <p:nvSpPr>
          <p:cNvPr id="65" name="Text 63"/>
          <p:cNvSpPr/>
          <p:nvPr/>
        </p:nvSpPr>
        <p:spPr>
          <a:xfrm>
            <a:off x="4169664" y="1673352"/>
            <a:ext cx="1481328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Generic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Fabric Pipeline</a:t>
            </a:r>
            <a:endParaRPr lang="en-US" sz="1220" dirty="0"/>
          </a:p>
        </p:txBody>
      </p:sp>
      <p:sp>
        <p:nvSpPr>
          <p:cNvPr id="66" name="Shape 64"/>
          <p:cNvSpPr/>
          <p:nvPr/>
        </p:nvSpPr>
        <p:spPr>
          <a:xfrm>
            <a:off x="4233672" y="2359152"/>
            <a:ext cx="50292" cy="50292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389120" y="2258568"/>
            <a:ext cx="121615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122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metadata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4233672" y="2907792"/>
            <a:ext cx="50292" cy="50292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389120" y="2807208"/>
            <a:ext cx="121615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122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Parameterize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122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4233672" y="3456432"/>
            <a:ext cx="50292" cy="50292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389120" y="3355848"/>
            <a:ext cx="121615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122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Trigger reusable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122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components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5961888" y="1600200"/>
            <a:ext cx="1938528" cy="2907792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8ABAC7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961888" y="1600200"/>
            <a:ext cx="1938528" cy="566928"/>
          </a:xfrm>
          <a:prstGeom prst="roundRect">
            <a:avLst>
              <a:gd name="adj" fmla="val 19355"/>
            </a:avLst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5961888" y="1984248"/>
            <a:ext cx="1938528" cy="182880"/>
          </a:xfrm>
          <a:prstGeom prst="rect">
            <a:avLst/>
          </a:prstGeom>
          <a:solidFill>
            <a:srgbClr val="008C95"/>
          </a:solidFill>
          <a:ln w="12700">
            <a:solidFill>
              <a:srgbClr val="008C95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725412" y="1344168"/>
            <a:ext cx="411480" cy="41148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9FCFDB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725412" y="1357884"/>
            <a:ext cx="4114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6B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◆</a:t>
            </a:r>
            <a:endParaRPr lang="en-US" sz="1800" dirty="0"/>
          </a:p>
        </p:txBody>
      </p:sp>
      <p:sp>
        <p:nvSpPr>
          <p:cNvPr id="77" name="Text 75"/>
          <p:cNvSpPr/>
          <p:nvPr/>
        </p:nvSpPr>
        <p:spPr>
          <a:xfrm>
            <a:off x="6035040" y="1673352"/>
            <a:ext cx="1792224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Reusable Processing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Components</a:t>
            </a:r>
            <a:endParaRPr lang="en-US" sz="1220" dirty="0"/>
          </a:p>
        </p:txBody>
      </p:sp>
      <p:sp>
        <p:nvSpPr>
          <p:cNvPr id="78" name="Shape 76"/>
          <p:cNvSpPr/>
          <p:nvPr/>
        </p:nvSpPr>
        <p:spPr>
          <a:xfrm>
            <a:off x="6071616" y="2258568"/>
            <a:ext cx="1719072" cy="402336"/>
          </a:xfrm>
          <a:prstGeom prst="roundRect">
            <a:avLst>
              <a:gd name="adj" fmla="val 18182"/>
            </a:avLst>
          </a:prstGeom>
          <a:solidFill>
            <a:srgbClr val="F4FBFB"/>
          </a:solidFill>
          <a:ln w="12700">
            <a:solidFill>
              <a:srgbClr val="9FCFDB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208776" y="2286000"/>
            <a:ext cx="310896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8C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2000" dirty="0"/>
          </a:p>
        </p:txBody>
      </p:sp>
      <p:sp>
        <p:nvSpPr>
          <p:cNvPr id="80" name="Text 78"/>
          <p:cNvSpPr/>
          <p:nvPr/>
        </p:nvSpPr>
        <p:spPr>
          <a:xfrm>
            <a:off x="6620256" y="2276856"/>
            <a:ext cx="1078992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122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Ingestion</a:t>
            </a:r>
            <a:endParaRPr lang="en-US" sz="1020" dirty="0"/>
          </a:p>
        </p:txBody>
      </p:sp>
      <p:sp>
        <p:nvSpPr>
          <p:cNvPr id="81" name="Shape 79"/>
          <p:cNvSpPr/>
          <p:nvPr/>
        </p:nvSpPr>
        <p:spPr>
          <a:xfrm>
            <a:off x="6071616" y="2761488"/>
            <a:ext cx="1719072" cy="402336"/>
          </a:xfrm>
          <a:prstGeom prst="roundRect">
            <a:avLst>
              <a:gd name="adj" fmla="val 18182"/>
            </a:avLst>
          </a:prstGeom>
          <a:solidFill>
            <a:srgbClr val="F4FBFB"/>
          </a:solidFill>
          <a:ln w="12700">
            <a:solidFill>
              <a:srgbClr val="9FCFDB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208776" y="2788920"/>
            <a:ext cx="310896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8C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⚙</a:t>
            </a:r>
            <a:endParaRPr lang="en-US" sz="2000" dirty="0"/>
          </a:p>
        </p:txBody>
      </p:sp>
      <p:sp>
        <p:nvSpPr>
          <p:cNvPr id="83" name="Text 81"/>
          <p:cNvSpPr/>
          <p:nvPr/>
        </p:nvSpPr>
        <p:spPr>
          <a:xfrm>
            <a:off x="6620256" y="2779776"/>
            <a:ext cx="1078992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122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Transformation</a:t>
            </a:r>
            <a:endParaRPr lang="en-US" sz="1020" dirty="0"/>
          </a:p>
        </p:txBody>
      </p:sp>
      <p:sp>
        <p:nvSpPr>
          <p:cNvPr id="84" name="Shape 82"/>
          <p:cNvSpPr/>
          <p:nvPr/>
        </p:nvSpPr>
        <p:spPr>
          <a:xfrm>
            <a:off x="6071616" y="3264408"/>
            <a:ext cx="1719072" cy="402336"/>
          </a:xfrm>
          <a:prstGeom prst="roundRect">
            <a:avLst>
              <a:gd name="adj" fmla="val 18182"/>
            </a:avLst>
          </a:prstGeom>
          <a:solidFill>
            <a:srgbClr val="F4FBFB"/>
          </a:solidFill>
          <a:ln w="12700">
            <a:solidFill>
              <a:srgbClr val="9FCFDB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208776" y="3291840"/>
            <a:ext cx="310896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8C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2000" dirty="0"/>
          </a:p>
        </p:txBody>
      </p:sp>
      <p:sp>
        <p:nvSpPr>
          <p:cNvPr id="86" name="Text 84"/>
          <p:cNvSpPr/>
          <p:nvPr/>
        </p:nvSpPr>
        <p:spPr>
          <a:xfrm>
            <a:off x="6620256" y="3282696"/>
            <a:ext cx="1078992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122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</a:t>
            </a:r>
            <a:endParaRPr lang="en-US" sz="1020" dirty="0"/>
          </a:p>
        </p:txBody>
      </p:sp>
      <p:sp>
        <p:nvSpPr>
          <p:cNvPr id="87" name="Shape 85"/>
          <p:cNvSpPr/>
          <p:nvPr/>
        </p:nvSpPr>
        <p:spPr>
          <a:xfrm>
            <a:off x="8156448" y="1600200"/>
            <a:ext cx="1572768" cy="2907792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8ABAC7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8156448" y="1600200"/>
            <a:ext cx="1572768" cy="566928"/>
          </a:xfrm>
          <a:prstGeom prst="roundRect">
            <a:avLst>
              <a:gd name="adj" fmla="val 19355"/>
            </a:avLst>
          </a:prstGeom>
          <a:solidFill>
            <a:srgbClr val="05295D"/>
          </a:solidFill>
          <a:ln w="12700">
            <a:solidFill>
              <a:srgbClr val="05295D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8156448" y="1984248"/>
            <a:ext cx="1572768" cy="182880"/>
          </a:xfrm>
          <a:prstGeom prst="rect">
            <a:avLst/>
          </a:prstGeom>
          <a:solidFill>
            <a:srgbClr val="05295D"/>
          </a:solidFill>
          <a:ln w="12700">
            <a:solidFill>
              <a:srgbClr val="05295D">
                <a:alpha val="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8737092" y="1344168"/>
            <a:ext cx="411480" cy="41148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9FCFDB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8737092" y="1357884"/>
            <a:ext cx="4114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29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≈</a:t>
            </a:r>
            <a:endParaRPr lang="en-US" sz="1800" dirty="0"/>
          </a:p>
        </p:txBody>
      </p:sp>
      <p:sp>
        <p:nvSpPr>
          <p:cNvPr id="92" name="Text 90"/>
          <p:cNvSpPr/>
          <p:nvPr/>
        </p:nvSpPr>
        <p:spPr>
          <a:xfrm>
            <a:off x="8229600" y="1673352"/>
            <a:ext cx="1426464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OneLake /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Lakehouse</a:t>
            </a:r>
            <a:endParaRPr lang="en-US" sz="1220" dirty="0"/>
          </a:p>
        </p:txBody>
      </p:sp>
      <p:sp>
        <p:nvSpPr>
          <p:cNvPr id="93" name="Text 91"/>
          <p:cNvSpPr/>
          <p:nvPr/>
        </p:nvSpPr>
        <p:spPr>
          <a:xfrm>
            <a:off x="8650224" y="2295144"/>
            <a:ext cx="58521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29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</a:t>
            </a:r>
            <a:endParaRPr lang="en-US" sz="950" dirty="0"/>
          </a:p>
        </p:txBody>
      </p:sp>
      <p:sp>
        <p:nvSpPr>
          <p:cNvPr id="94" name="Shape 92"/>
          <p:cNvSpPr/>
          <p:nvPr/>
        </p:nvSpPr>
        <p:spPr>
          <a:xfrm>
            <a:off x="8705088" y="2551176"/>
            <a:ext cx="475488" cy="347472"/>
          </a:xfrm>
          <a:prstGeom prst="can">
            <a:avLst/>
          </a:prstGeom>
          <a:solidFill>
            <a:srgbClr val="DFF6F6"/>
          </a:solidFill>
          <a:ln w="12700">
            <a:solidFill>
              <a:srgbClr val="05295D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8714232" y="2670048"/>
            <a:ext cx="457200" cy="201168"/>
          </a:xfrm>
          <a:prstGeom prst="arc">
            <a:avLst/>
          </a:prstGeom>
          <a:noFill/>
          <a:ln w="25400">
            <a:solidFill>
              <a:srgbClr val="008C95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8357616" y="3108960"/>
            <a:ext cx="1170432" cy="0"/>
          </a:xfrm>
          <a:prstGeom prst="line">
            <a:avLst/>
          </a:prstGeom>
          <a:noFill/>
          <a:ln w="12700">
            <a:solidFill>
              <a:srgbClr val="D6E5EA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8650224" y="3127248"/>
            <a:ext cx="58521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29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Processed</a:t>
            </a:r>
            <a:endParaRPr lang="en-US" sz="950" dirty="0"/>
          </a:p>
        </p:txBody>
      </p:sp>
      <p:sp>
        <p:nvSpPr>
          <p:cNvPr id="98" name="Shape 96"/>
          <p:cNvSpPr/>
          <p:nvPr/>
        </p:nvSpPr>
        <p:spPr>
          <a:xfrm>
            <a:off x="8705088" y="3383280"/>
            <a:ext cx="475488" cy="347472"/>
          </a:xfrm>
          <a:prstGeom prst="can">
            <a:avLst/>
          </a:prstGeom>
          <a:solidFill>
            <a:srgbClr val="DFF6F6"/>
          </a:solidFill>
          <a:ln w="12700">
            <a:solidFill>
              <a:srgbClr val="05295D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8714232" y="3502152"/>
            <a:ext cx="457200" cy="201168"/>
          </a:xfrm>
          <a:prstGeom prst="arc">
            <a:avLst/>
          </a:prstGeom>
          <a:noFill/>
          <a:ln w="25400">
            <a:solidFill>
              <a:srgbClr val="008C95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0003536" y="1600200"/>
            <a:ext cx="1481328" cy="290779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8ABAC7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0003536" y="1600200"/>
            <a:ext cx="1481328" cy="566928"/>
          </a:xfrm>
          <a:prstGeom prst="roundRect">
            <a:avLst>
              <a:gd name="adj" fmla="val 19355"/>
            </a:avLst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0003536" y="1984248"/>
            <a:ext cx="1481328" cy="182880"/>
          </a:xfrm>
          <a:prstGeom prst="rect">
            <a:avLst/>
          </a:prstGeom>
          <a:solidFill>
            <a:srgbClr val="008C95"/>
          </a:solidFill>
          <a:ln w="12700">
            <a:solidFill>
              <a:srgbClr val="008C95">
                <a:alpha val="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10538460" y="1344168"/>
            <a:ext cx="411480" cy="41148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9FCFDB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10538460" y="1357884"/>
            <a:ext cx="4114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6B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👥</a:t>
            </a:r>
            <a:endParaRPr lang="en-US" sz="1800" dirty="0"/>
          </a:p>
        </p:txBody>
      </p:sp>
      <p:sp>
        <p:nvSpPr>
          <p:cNvPr id="105" name="Text 103"/>
          <p:cNvSpPr/>
          <p:nvPr/>
        </p:nvSpPr>
        <p:spPr>
          <a:xfrm>
            <a:off x="10076688" y="1673352"/>
            <a:ext cx="1335024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Delivery &amp;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Consumption</a:t>
            </a:r>
            <a:endParaRPr lang="en-US" sz="1220" dirty="0"/>
          </a:p>
        </p:txBody>
      </p:sp>
      <p:sp>
        <p:nvSpPr>
          <p:cNvPr id="106" name="Text 104"/>
          <p:cNvSpPr/>
          <p:nvPr/>
        </p:nvSpPr>
        <p:spPr>
          <a:xfrm>
            <a:off x="10204704" y="2496312"/>
            <a:ext cx="38404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B70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▮</a:t>
            </a:r>
            <a:endParaRPr lang="en-US" sz="2200" dirty="0"/>
          </a:p>
        </p:txBody>
      </p:sp>
      <p:sp>
        <p:nvSpPr>
          <p:cNvPr id="107" name="Text 105"/>
          <p:cNvSpPr/>
          <p:nvPr/>
        </p:nvSpPr>
        <p:spPr>
          <a:xfrm>
            <a:off x="10698480" y="2532888"/>
            <a:ext cx="621792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122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BI</a:t>
            </a:r>
            <a:endParaRPr lang="en-US" sz="1200" dirty="0"/>
          </a:p>
        </p:txBody>
      </p:sp>
      <p:sp>
        <p:nvSpPr>
          <p:cNvPr id="108" name="Shape 106"/>
          <p:cNvSpPr/>
          <p:nvPr/>
        </p:nvSpPr>
        <p:spPr>
          <a:xfrm>
            <a:off x="10131552" y="3063240"/>
            <a:ext cx="1225296" cy="0"/>
          </a:xfrm>
          <a:prstGeom prst="line">
            <a:avLst/>
          </a:prstGeom>
          <a:noFill/>
          <a:ln w="12700">
            <a:solidFill>
              <a:srgbClr val="D6E5EA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10204704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6B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⇄</a:t>
            </a:r>
            <a:endParaRPr lang="en-US" sz="2200" dirty="0"/>
          </a:p>
        </p:txBody>
      </p:sp>
      <p:sp>
        <p:nvSpPr>
          <p:cNvPr id="110" name="Text 108"/>
          <p:cNvSpPr/>
          <p:nvPr/>
        </p:nvSpPr>
        <p:spPr>
          <a:xfrm>
            <a:off x="10698480" y="3282696"/>
            <a:ext cx="621792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122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SFTP</a:t>
            </a:r>
            <a:endParaRPr lang="en-US" sz="1200" dirty="0"/>
          </a:p>
        </p:txBody>
      </p:sp>
      <p:sp>
        <p:nvSpPr>
          <p:cNvPr id="111" name="Shape 109"/>
          <p:cNvSpPr/>
          <p:nvPr/>
        </p:nvSpPr>
        <p:spPr>
          <a:xfrm>
            <a:off x="228600" y="4727448"/>
            <a:ext cx="8028432" cy="1435608"/>
          </a:xfrm>
          <a:prstGeom prst="roundRect">
            <a:avLst>
              <a:gd name="adj" fmla="val 7643"/>
            </a:avLst>
          </a:prstGeom>
          <a:solidFill>
            <a:srgbClr val="EEF8F8">
              <a:alpha val="90000"/>
            </a:srgbClr>
          </a:solidFill>
          <a:ln w="12700">
            <a:solidFill>
              <a:srgbClr val="EEF8F8">
                <a:alpha val="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438912" y="4901184"/>
            <a:ext cx="2834640" cy="0"/>
          </a:xfrm>
          <a:prstGeom prst="line">
            <a:avLst/>
          </a:prstGeom>
          <a:noFill/>
          <a:ln w="12700">
            <a:solidFill>
              <a:srgbClr val="9FCFDB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3520440" y="4800600"/>
            <a:ext cx="114300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29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Benefits</a:t>
            </a:r>
            <a:endParaRPr lang="en-US" sz="1200" dirty="0"/>
          </a:p>
        </p:txBody>
      </p:sp>
      <p:sp>
        <p:nvSpPr>
          <p:cNvPr id="114" name="Shape 112"/>
          <p:cNvSpPr/>
          <p:nvPr/>
        </p:nvSpPr>
        <p:spPr>
          <a:xfrm>
            <a:off x="4846320" y="4901184"/>
            <a:ext cx="3108960" cy="0"/>
          </a:xfrm>
          <a:prstGeom prst="line">
            <a:avLst/>
          </a:prstGeom>
          <a:noFill/>
          <a:ln w="12700">
            <a:solidFill>
              <a:srgbClr val="9FCFDB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365760" y="5102352"/>
            <a:ext cx="137160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9FCFDB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438912" y="5193792"/>
            <a:ext cx="1225296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8C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↻</a:t>
            </a:r>
            <a:endParaRPr lang="en-US" sz="2100" dirty="0"/>
          </a:p>
        </p:txBody>
      </p:sp>
      <p:sp>
        <p:nvSpPr>
          <p:cNvPr id="117" name="Text 115"/>
          <p:cNvSpPr/>
          <p:nvPr/>
        </p:nvSpPr>
        <p:spPr>
          <a:xfrm>
            <a:off x="411480" y="5513832"/>
            <a:ext cx="12801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29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Reusability</a:t>
            </a:r>
            <a:endParaRPr lang="en-US" sz="950" dirty="0"/>
          </a:p>
        </p:txBody>
      </p:sp>
      <p:sp>
        <p:nvSpPr>
          <p:cNvPr id="118" name="Text 116"/>
          <p:cNvSpPr/>
          <p:nvPr/>
        </p:nvSpPr>
        <p:spPr>
          <a:xfrm>
            <a:off x="438912" y="5715000"/>
            <a:ext cx="122529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1122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once, use many times</a:t>
            </a:r>
            <a:endParaRPr lang="en-US" sz="710" dirty="0"/>
          </a:p>
        </p:txBody>
      </p:sp>
      <p:sp>
        <p:nvSpPr>
          <p:cNvPr id="119" name="Shape 117"/>
          <p:cNvSpPr/>
          <p:nvPr/>
        </p:nvSpPr>
        <p:spPr>
          <a:xfrm>
            <a:off x="1920240" y="5102352"/>
            <a:ext cx="137160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9FCFDB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1993392" y="5193792"/>
            <a:ext cx="1225296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8C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↗</a:t>
            </a:r>
            <a:endParaRPr lang="en-US" sz="2100" dirty="0"/>
          </a:p>
        </p:txBody>
      </p:sp>
      <p:sp>
        <p:nvSpPr>
          <p:cNvPr id="121" name="Text 119"/>
          <p:cNvSpPr/>
          <p:nvPr/>
        </p:nvSpPr>
        <p:spPr>
          <a:xfrm>
            <a:off x="1965960" y="5513832"/>
            <a:ext cx="12801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29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Scalability</a:t>
            </a:r>
            <a:endParaRPr lang="en-US" sz="950" dirty="0"/>
          </a:p>
        </p:txBody>
      </p:sp>
      <p:sp>
        <p:nvSpPr>
          <p:cNvPr id="122" name="Text 120"/>
          <p:cNvSpPr/>
          <p:nvPr/>
        </p:nvSpPr>
        <p:spPr>
          <a:xfrm>
            <a:off x="1993392" y="5715000"/>
            <a:ext cx="122529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1122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Handle more sources and volumes</a:t>
            </a:r>
            <a:endParaRPr lang="en-US" sz="710" dirty="0"/>
          </a:p>
        </p:txBody>
      </p:sp>
      <p:sp>
        <p:nvSpPr>
          <p:cNvPr id="123" name="Shape 121"/>
          <p:cNvSpPr/>
          <p:nvPr/>
        </p:nvSpPr>
        <p:spPr>
          <a:xfrm>
            <a:off x="3474720" y="5102352"/>
            <a:ext cx="137160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9FCFDB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3547872" y="5193792"/>
            <a:ext cx="1225296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8C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2100" dirty="0"/>
          </a:p>
        </p:txBody>
      </p:sp>
      <p:sp>
        <p:nvSpPr>
          <p:cNvPr id="125" name="Text 123"/>
          <p:cNvSpPr/>
          <p:nvPr/>
        </p:nvSpPr>
        <p:spPr>
          <a:xfrm>
            <a:off x="3520440" y="5513832"/>
            <a:ext cx="12801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29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Standardisation</a:t>
            </a:r>
            <a:endParaRPr lang="en-US" sz="950" dirty="0"/>
          </a:p>
        </p:txBody>
      </p:sp>
      <p:sp>
        <p:nvSpPr>
          <p:cNvPr id="126" name="Text 124"/>
          <p:cNvSpPr/>
          <p:nvPr/>
        </p:nvSpPr>
        <p:spPr>
          <a:xfrm>
            <a:off x="3547872" y="5715000"/>
            <a:ext cx="122529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1122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Consistent patterns across pipelines</a:t>
            </a:r>
            <a:endParaRPr lang="en-US" sz="710" dirty="0"/>
          </a:p>
        </p:txBody>
      </p:sp>
      <p:sp>
        <p:nvSpPr>
          <p:cNvPr id="127" name="Shape 125"/>
          <p:cNvSpPr/>
          <p:nvPr/>
        </p:nvSpPr>
        <p:spPr>
          <a:xfrm>
            <a:off x="5029200" y="5102352"/>
            <a:ext cx="137160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9FCFDB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5102352" y="5193792"/>
            <a:ext cx="1225296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8C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⊕</a:t>
            </a:r>
            <a:endParaRPr lang="en-US" sz="2100" dirty="0"/>
          </a:p>
        </p:txBody>
      </p:sp>
      <p:sp>
        <p:nvSpPr>
          <p:cNvPr id="129" name="Text 127"/>
          <p:cNvSpPr/>
          <p:nvPr/>
        </p:nvSpPr>
        <p:spPr>
          <a:xfrm>
            <a:off x="5074920" y="5513832"/>
            <a:ext cx="12801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29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Faster Onboarding</a:t>
            </a:r>
            <a:endParaRPr lang="en-US" sz="950" dirty="0"/>
          </a:p>
        </p:txBody>
      </p:sp>
      <p:sp>
        <p:nvSpPr>
          <p:cNvPr id="130" name="Text 128"/>
          <p:cNvSpPr/>
          <p:nvPr/>
        </p:nvSpPr>
        <p:spPr>
          <a:xfrm>
            <a:off x="5102352" y="5715000"/>
            <a:ext cx="122529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1122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Onboard new sources quickly</a:t>
            </a:r>
            <a:endParaRPr lang="en-US" sz="710" dirty="0"/>
          </a:p>
        </p:txBody>
      </p:sp>
      <p:sp>
        <p:nvSpPr>
          <p:cNvPr id="131" name="Shape 129"/>
          <p:cNvSpPr/>
          <p:nvPr/>
        </p:nvSpPr>
        <p:spPr>
          <a:xfrm>
            <a:off x="6583680" y="5102352"/>
            <a:ext cx="137160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9FCFDB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6656832" y="5193792"/>
            <a:ext cx="1225296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8C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⚒</a:t>
            </a:r>
            <a:endParaRPr lang="en-US" sz="2100" dirty="0"/>
          </a:p>
        </p:txBody>
      </p:sp>
      <p:sp>
        <p:nvSpPr>
          <p:cNvPr id="133" name="Text 131"/>
          <p:cNvSpPr/>
          <p:nvPr/>
        </p:nvSpPr>
        <p:spPr>
          <a:xfrm>
            <a:off x="6629400" y="5513832"/>
            <a:ext cx="12801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29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Simpler Maintenance</a:t>
            </a:r>
            <a:endParaRPr lang="en-US" sz="950" dirty="0"/>
          </a:p>
        </p:txBody>
      </p:sp>
      <p:sp>
        <p:nvSpPr>
          <p:cNvPr id="134" name="Text 132"/>
          <p:cNvSpPr/>
          <p:nvPr/>
        </p:nvSpPr>
        <p:spPr>
          <a:xfrm>
            <a:off x="6656832" y="5715000"/>
            <a:ext cx="122529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1122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in one place, impact everywhere</a:t>
            </a:r>
            <a:endParaRPr lang="en-US" sz="710" dirty="0"/>
          </a:p>
        </p:txBody>
      </p:sp>
      <p:sp>
        <p:nvSpPr>
          <p:cNvPr id="135" name="Shape 133"/>
          <p:cNvSpPr/>
          <p:nvPr/>
        </p:nvSpPr>
        <p:spPr>
          <a:xfrm>
            <a:off x="8458200" y="4736592"/>
            <a:ext cx="3337560" cy="1517904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 w="12700">
            <a:solidFill>
              <a:srgbClr val="8ABAC7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8458200" y="4736592"/>
            <a:ext cx="3337560" cy="384048"/>
          </a:xfrm>
          <a:prstGeom prst="roundRect">
            <a:avLst>
              <a:gd name="adj" fmla="val 28571"/>
            </a:avLst>
          </a:prstGeom>
          <a:solidFill>
            <a:srgbClr val="05295D"/>
          </a:solidFill>
          <a:ln w="12700">
            <a:solidFill>
              <a:srgbClr val="05295D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8458200" y="4956048"/>
            <a:ext cx="3337560" cy="164592"/>
          </a:xfrm>
          <a:prstGeom prst="rect">
            <a:avLst/>
          </a:prstGeom>
          <a:solidFill>
            <a:srgbClr val="05295D"/>
          </a:solidFill>
          <a:ln w="12700">
            <a:solidFill>
              <a:srgbClr val="05295D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8558784" y="4764024"/>
            <a:ext cx="25603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◇</a:t>
            </a:r>
            <a:endParaRPr lang="en-US" sz="1600" dirty="0"/>
          </a:p>
        </p:txBody>
      </p:sp>
      <p:sp>
        <p:nvSpPr>
          <p:cNvPr id="139" name="Text 137"/>
          <p:cNvSpPr/>
          <p:nvPr/>
        </p:nvSpPr>
        <p:spPr>
          <a:xfrm>
            <a:off x="8842248" y="4782312"/>
            <a:ext cx="26060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Framework Value</a:t>
            </a:r>
            <a:endParaRPr lang="en-US" sz="1260" dirty="0"/>
          </a:p>
        </p:txBody>
      </p:sp>
      <p:sp>
        <p:nvSpPr>
          <p:cNvPr id="140" name="Shape 138"/>
          <p:cNvSpPr/>
          <p:nvPr/>
        </p:nvSpPr>
        <p:spPr>
          <a:xfrm>
            <a:off x="8668512" y="5285232"/>
            <a:ext cx="109728" cy="109728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8668512" y="5280660"/>
            <a:ext cx="109728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650" dirty="0"/>
          </a:p>
        </p:txBody>
      </p:sp>
      <p:sp>
        <p:nvSpPr>
          <p:cNvPr id="142" name="Text 140"/>
          <p:cNvSpPr/>
          <p:nvPr/>
        </p:nvSpPr>
        <p:spPr>
          <a:xfrm>
            <a:off x="8851392" y="5248656"/>
            <a:ext cx="2743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122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Minimises hardcoding</a:t>
            </a:r>
            <a:endParaRPr lang="en-US" sz="920" dirty="0"/>
          </a:p>
        </p:txBody>
      </p:sp>
      <p:sp>
        <p:nvSpPr>
          <p:cNvPr id="143" name="Shape 141"/>
          <p:cNvSpPr/>
          <p:nvPr/>
        </p:nvSpPr>
        <p:spPr>
          <a:xfrm>
            <a:off x="8668512" y="5522976"/>
            <a:ext cx="109728" cy="109728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8668512" y="5518404"/>
            <a:ext cx="109728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650" dirty="0"/>
          </a:p>
        </p:txBody>
      </p:sp>
      <p:sp>
        <p:nvSpPr>
          <p:cNvPr id="145" name="Text 143"/>
          <p:cNvSpPr/>
          <p:nvPr/>
        </p:nvSpPr>
        <p:spPr>
          <a:xfrm>
            <a:off x="8851392" y="5486400"/>
            <a:ext cx="2743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122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Supports multiple source objects</a:t>
            </a:r>
            <a:endParaRPr lang="en-US" sz="920" dirty="0"/>
          </a:p>
        </p:txBody>
      </p:sp>
      <p:sp>
        <p:nvSpPr>
          <p:cNvPr id="146" name="Shape 144"/>
          <p:cNvSpPr/>
          <p:nvPr/>
        </p:nvSpPr>
        <p:spPr>
          <a:xfrm>
            <a:off x="8668512" y="5760720"/>
            <a:ext cx="109728" cy="109728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8668512" y="5756148"/>
            <a:ext cx="109728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650" dirty="0"/>
          </a:p>
        </p:txBody>
      </p:sp>
      <p:sp>
        <p:nvSpPr>
          <p:cNvPr id="148" name="Text 146"/>
          <p:cNvSpPr/>
          <p:nvPr/>
        </p:nvSpPr>
        <p:spPr>
          <a:xfrm>
            <a:off x="8851392" y="5724144"/>
            <a:ext cx="2743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122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Enables consistent processing patterns</a:t>
            </a:r>
            <a:endParaRPr lang="en-US" sz="920" dirty="0"/>
          </a:p>
        </p:txBody>
      </p:sp>
      <p:sp>
        <p:nvSpPr>
          <p:cNvPr id="149" name="Shape 147"/>
          <p:cNvSpPr/>
          <p:nvPr/>
        </p:nvSpPr>
        <p:spPr>
          <a:xfrm>
            <a:off x="8668512" y="5998464"/>
            <a:ext cx="109728" cy="109728"/>
          </a:xfrm>
          <a:prstGeom prst="ellipse">
            <a:avLst/>
          </a:prstGeom>
          <a:solidFill>
            <a:srgbClr val="008C95"/>
          </a:solidFill>
          <a:ln w="12700">
            <a:solidFill>
              <a:srgbClr val="008C95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8668512" y="5993892"/>
            <a:ext cx="109728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650" dirty="0"/>
          </a:p>
        </p:txBody>
      </p:sp>
      <p:sp>
        <p:nvSpPr>
          <p:cNvPr id="151" name="Text 149"/>
          <p:cNvSpPr/>
          <p:nvPr/>
        </p:nvSpPr>
        <p:spPr>
          <a:xfrm>
            <a:off x="8851392" y="5961888"/>
            <a:ext cx="2743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122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Accelerates new pipeline onboarding</a:t>
            </a:r>
            <a:endParaRPr lang="en-US" sz="9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SVHA Metadata-Driven Framework</dc:title>
  <dc:subject>SVHA Metadata-Driven Framework</dc:subject>
  <dc:creator>OpenAI</dc:creator>
  <cp:lastModifiedBy>OpenAI</cp:lastModifiedBy>
  <cp:revision>1</cp:revision>
  <dcterms:created xsi:type="dcterms:W3CDTF">2026-07-22T01:25:56Z</dcterms:created>
  <dcterms:modified xsi:type="dcterms:W3CDTF">2026-07-22T01:25:56Z</dcterms:modified>
</cp:coreProperties>
</file>