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0" y="0"/>
            <a:ext cx="3840480" cy="16459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9760" y="1371600"/>
            <a:ext cx="3840480" cy="1645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875520" y="2743200"/>
            <a:ext cx="3840480" cy="16459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858000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PSU Fabric Environment</a:t>
            </a:r>
            <a:br/>
            <a:r>
              <a:t>for Hotfix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67512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700" b="0">
                <a:solidFill>
                  <a:srgbClr val="DAEAF8"/>
                </a:solidFill>
              </a:defRPr>
            </a:pPr>
            <a:r>
              <a:t>Dev • SIT • PSU • Prod operating model for controlled, low-risk hotfix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337560"/>
            <a:ext cx="777240" cy="301752"/>
          </a:xfrm>
          <a:prstGeom prst="round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7088" y="3337560"/>
            <a:ext cx="777240" cy="301752"/>
          </a:xfrm>
          <a:prstGeom prst="round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3337560"/>
            <a:ext cx="777240" cy="30175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3337560"/>
            <a:ext cx="777240" cy="301752"/>
          </a:xfrm>
          <a:prstGeom prst="round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" y="4105656"/>
            <a:ext cx="3657600" cy="114300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4069080"/>
            <a:ext cx="3657600" cy="1143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4069080"/>
            <a:ext cx="73152" cy="1143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23367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8853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06240"/>
            <a:ext cx="286207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645152"/>
            <a:ext cx="3337560" cy="4846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100" b="0">
                <a:solidFill>
                  <a:srgbClr val="222C38"/>
                </a:solidFill>
              </a:defRPr>
            </a:pPr>
            <a:r>
              <a:t>Create a pre-production safety lane for urgent production fixes, with controlled validation, fast approvals and clear deployment boundaries.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4105656"/>
            <a:ext cx="3657600" cy="114300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17720" y="4069080"/>
            <a:ext cx="3657600" cy="11430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4069080"/>
            <a:ext cx="7315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82312" y="4233672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82312" y="428853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4206240"/>
            <a:ext cx="286207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4645152"/>
            <a:ext cx="3337560" cy="4846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100" b="0">
                <a:solidFill>
                  <a:srgbClr val="222C38"/>
                </a:solidFill>
              </a:defRPr>
            </a:pPr>
            <a:r>
              <a:t>Hotfixes can be tested against production-like Fabric configuration before final deployment to Prod.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00" b="0">
                <a:solidFill>
                  <a:srgbClr val="687482"/>
                </a:solidFill>
              </a:defRPr>
            </a:pPr>
            <a:r>
              <a:t>MMHCI Data Integration Hub | Fabric Hotfix Framework | 1</a:t>
            </a:r>
          </a:p>
        </p:txBody>
      </p:sp>
      <p:sp>
        <p:nvSpPr>
          <p:cNvPr id="26" name="Oval 25"/>
          <p:cNvSpPr/>
          <p:nvPr/>
        </p:nvSpPr>
        <p:spPr>
          <a:xfrm>
            <a:off x="11475720" y="6473952"/>
            <a:ext cx="82296" cy="82296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40312" y="6473952"/>
            <a:ext cx="82296" cy="82296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804904" y="6473952"/>
            <a:ext cx="82296" cy="8229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0C2340"/>
                </a:solidFill>
              </a:defRPr>
            </a:pPr>
            <a:r>
              <a:t>Why PSU is required for Fabric hotfixes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0704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687482"/>
                </a:solidFill>
              </a:defRPr>
            </a:pPr>
            <a:r>
              <a:t>Current gaps when hotfixes are tested only in Dev/SIT before Prod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7512" y="1453896"/>
            <a:ext cx="338328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581912"/>
            <a:ext cx="411480" cy="411480"/>
          </a:xfrm>
          <a:prstGeom prst="ellipse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367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554480"/>
            <a:ext cx="258775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Production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93392"/>
            <a:ext cx="306324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Hotfixes may behave differently in Prod due to capacity load, workspace permissions, connections, pipeline schedules and data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453896"/>
            <a:ext cx="338328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3712" y="1581912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6367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554480"/>
            <a:ext cx="258775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Dev/SIT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993392"/>
            <a:ext cx="306324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Dev is frequently used for active build work, while SIT validates integration; neither should become the final hotfix rehearsal lane.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1453896"/>
            <a:ext cx="338328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383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1417320"/>
            <a:ext cx="73152" cy="13258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02752" y="1581912"/>
            <a:ext cx="411480" cy="41148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16367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554480"/>
            <a:ext cx="2587751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Recovery 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1993392"/>
            <a:ext cx="306324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Branch switching, Git sync and Lakehouse item behavior can impact visibility of artifacts if change control is not tight.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063240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Key risks addressed by PSU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566160"/>
            <a:ext cx="3246120" cy="301752"/>
          </a:xfrm>
          <a:prstGeom prst="round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Uncontrolled emergency fixes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566160"/>
            <a:ext cx="3246120" cy="30175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Unclear branch promotion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566160"/>
            <a:ext cx="3246120" cy="301752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Capacity contention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069080"/>
            <a:ext cx="3246120" cy="301752"/>
          </a:xfrm>
          <a:prstGeom prst="round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Manual deployment drift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069080"/>
            <a:ext cx="3246120" cy="301752"/>
          </a:xfrm>
          <a:prstGeom prst="round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Dataflow/pipeline regressions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" y="4791456"/>
            <a:ext cx="10881360" cy="91440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10881360" cy="914400"/>
          </a:xfrm>
          <a:prstGeom prst="roundRect">
            <a:avLst/>
          </a:prstGeom>
          <a:solidFill>
            <a:srgbClr val="E0F8F5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4754880"/>
            <a:ext cx="73152" cy="9144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4671" y="491947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1" y="497433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892040"/>
            <a:ext cx="10085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500" b="1">
                <a:solidFill>
                  <a:srgbClr val="0C2340"/>
                </a:solidFill>
              </a:defRPr>
            </a:pPr>
            <a:r>
              <a:t>Architectural principle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" y="5330952"/>
            <a:ext cx="1056132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222C38"/>
                </a:solidFill>
              </a:defRPr>
            </a:pPr>
            <a:r>
              <a:t>PSU should be treated as a controlled pre-production safety environment: close enough to Prod for validation, separate enough from Dev/SIT to avoid disruption.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00" b="0">
                <a:solidFill>
                  <a:srgbClr val="687482"/>
                </a:solidFill>
              </a:defRPr>
            </a:pPr>
            <a:r>
              <a:t>MMHCI Data Integration Hub | Fabric Hotfix Framework | 2</a:t>
            </a:r>
          </a:p>
        </p:txBody>
      </p:sp>
      <p:sp>
        <p:nvSpPr>
          <p:cNvPr id="40" name="Oval 39"/>
          <p:cNvSpPr/>
          <p:nvPr/>
        </p:nvSpPr>
        <p:spPr>
          <a:xfrm>
            <a:off x="11475720" y="6473952"/>
            <a:ext cx="82296" cy="82296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640312" y="6473952"/>
            <a:ext cx="82296" cy="82296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804904" y="6473952"/>
            <a:ext cx="82296" cy="8229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0C2340"/>
                </a:solidFill>
              </a:defRPr>
            </a:pPr>
            <a:r>
              <a:t>Target environment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0704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687482"/>
                </a:solidFill>
              </a:defRPr>
            </a:pPr>
            <a:r>
              <a:t>Four-environment model for Fabric delivery and hotfix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148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645919"/>
            <a:ext cx="192938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800" b="1">
                <a:solidFill>
                  <a:srgbClr val="00A693"/>
                </a:solidFill>
              </a:defRPr>
            </a:pPr>
            <a:r>
              <a:t>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1874520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0">
                <a:solidFill>
                  <a:srgbClr val="687482"/>
                </a:solidFill>
              </a:defRPr>
            </a:pPr>
            <a:r>
              <a:t>Build, experiment, unit validate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011680"/>
            <a:ext cx="594360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508760"/>
            <a:ext cx="2148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645919"/>
            <a:ext cx="192938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800" b="1">
                <a:solidFill>
                  <a:srgbClr val="0074D9"/>
                </a:solidFill>
              </a:defRPr>
            </a:pPr>
            <a:r>
              <a:t>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039112"/>
            <a:ext cx="1874520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0">
                <a:solidFill>
                  <a:srgbClr val="687482"/>
                </a:solidFill>
              </a:defRPr>
            </a:pPr>
            <a:r>
              <a:t>Integration testing &amp; E2E checks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2011680"/>
            <a:ext cx="594360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508760"/>
            <a:ext cx="2148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645919"/>
            <a:ext cx="192938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800" b="1">
                <a:solidFill>
                  <a:srgbClr val="F5A623"/>
                </a:solidFill>
              </a:defRPr>
            </a:pPr>
            <a:r>
              <a:t>PSU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39112"/>
            <a:ext cx="1874520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0">
                <a:solidFill>
                  <a:srgbClr val="687482"/>
                </a:solidFill>
              </a:defRPr>
            </a:pPr>
            <a:r>
              <a:t>Pre-prod hotfix rehearsal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2011680"/>
            <a:ext cx="594360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20" y="1508760"/>
            <a:ext cx="2148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0848" y="1645919"/>
            <a:ext cx="192938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800" b="1">
                <a:solidFill>
                  <a:srgbClr val="DC4141"/>
                </a:solidFill>
              </a:defRPr>
            </a:pPr>
            <a:r>
              <a:t>PROD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39112"/>
            <a:ext cx="1874520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0">
                <a:solidFill>
                  <a:srgbClr val="687482"/>
                </a:solidFill>
              </a:defRPr>
            </a:pPr>
            <a:r>
              <a:t>Business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1389888" cy="301752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Workspace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154680"/>
            <a:ext cx="2487168" cy="301752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Git Branch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154680"/>
            <a:ext cx="2852928" cy="301752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154680"/>
            <a:ext cx="2761488" cy="301752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93592"/>
            <a:ext cx="138988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666744"/>
            <a:ext cx="12984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850" b="1">
                <a:solidFill>
                  <a:srgbClr val="222C38"/>
                </a:solidFill>
              </a:defRPr>
            </a:pPr>
            <a: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3593592"/>
            <a:ext cx="248716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40280" y="3666744"/>
            <a:ext cx="2395727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develop / feature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593592"/>
            <a:ext cx="285292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600" y="3666744"/>
            <a:ext cx="276148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Synthetic + dev sample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593592"/>
            <a:ext cx="276148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80" y="3666744"/>
            <a:ext cx="26700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Dev capacity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096512"/>
            <a:ext cx="138988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169664"/>
            <a:ext cx="12984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850" b="1">
                <a:solidFill>
                  <a:srgbClr val="222C38"/>
                </a:solidFill>
              </a:defRPr>
            </a:pPr>
            <a:r>
              <a:t>SIT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096512"/>
            <a:ext cx="248716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40280" y="4169664"/>
            <a:ext cx="2395727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release / sit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096512"/>
            <a:ext cx="285292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600" y="4169664"/>
            <a:ext cx="276148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Integrated test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096512"/>
            <a:ext cx="276148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26680" y="4169664"/>
            <a:ext cx="26700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SIT/dev-shared or dedicated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599432"/>
            <a:ext cx="138988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4672584"/>
            <a:ext cx="12984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850" b="1">
                <a:solidFill>
                  <a:srgbClr val="222C38"/>
                </a:solidFill>
              </a:defRPr>
            </a:pPr>
            <a:r>
              <a:t>PSU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94560" y="4599432"/>
            <a:ext cx="248716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0280" y="4672584"/>
            <a:ext cx="2395727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hotfix / preprod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4599432"/>
            <a:ext cx="285292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00600" y="4672584"/>
            <a:ext cx="276148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Prod-like masked/config-aligned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4599432"/>
            <a:ext cx="276148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26680" y="4672584"/>
            <a:ext cx="26700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Prefer isolated or guarded shared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102352"/>
            <a:ext cx="138988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5175504"/>
            <a:ext cx="12984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850" b="1">
                <a:solidFill>
                  <a:srgbClr val="222C38"/>
                </a:solidFill>
              </a:defRPr>
            </a:pPr>
            <a:r>
              <a:t>PROD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5102352"/>
            <a:ext cx="248716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40280" y="5175504"/>
            <a:ext cx="2395727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main / prod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0" y="5102352"/>
            <a:ext cx="285292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00600" y="5175504"/>
            <a:ext cx="276148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Production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80960" y="5102352"/>
            <a:ext cx="2761488" cy="384048"/>
          </a:xfrm>
          <a:prstGeom prst="roundRect">
            <a:avLst/>
          </a:prstGeom>
          <a:solidFill>
            <a:srgbClr val="EE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26680" y="5175504"/>
            <a:ext cx="2670048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50" b="0">
                <a:solidFill>
                  <a:srgbClr val="222C38"/>
                </a:solidFill>
              </a:defRPr>
            </a:pPr>
            <a:r>
              <a:t>Prod capacity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00" b="0">
                <a:solidFill>
                  <a:srgbClr val="687482"/>
                </a:solidFill>
              </a:defRPr>
            </a:pPr>
            <a:r>
              <a:t>MMHCI Data Integration Hub | Fabric Hotfix Framework | 3</a:t>
            </a:r>
          </a:p>
        </p:txBody>
      </p:sp>
      <p:sp>
        <p:nvSpPr>
          <p:cNvPr id="57" name="Oval 56"/>
          <p:cNvSpPr/>
          <p:nvPr/>
        </p:nvSpPr>
        <p:spPr>
          <a:xfrm>
            <a:off x="11475720" y="6473952"/>
            <a:ext cx="82296" cy="82296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640312" y="6473952"/>
            <a:ext cx="82296" cy="82296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804904" y="6473952"/>
            <a:ext cx="82296" cy="8229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0C2340"/>
                </a:solidFill>
              </a:defRPr>
            </a:pPr>
            <a:r>
              <a:t>DevOps framework for Fabric hotfix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0704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687482"/>
                </a:solidFill>
              </a:defRPr>
            </a:pPr>
            <a:r>
              <a:t>A controlled branch, approval and deployment pattern across Dev, SIT, PSU and Prod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" y="1453896"/>
            <a:ext cx="333756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325880"/>
          </a:xfrm>
          <a:prstGeom prst="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1581912"/>
            <a:ext cx="411480" cy="411480"/>
          </a:xfrm>
          <a:prstGeom prst="ellipse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367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554480"/>
            <a:ext cx="25420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1. Incident /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93392"/>
            <a:ext cx="301752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Identify prod issue, classify severity and impact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075688"/>
            <a:ext cx="384048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43984" y="1453896"/>
            <a:ext cx="333756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2" y="14173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6552" y="14173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81144" y="1581912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16367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554480"/>
            <a:ext cx="25420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2. Hotfix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1993392"/>
            <a:ext cx="301752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Create hotfix branch from prod-approved baseline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54112" y="2075688"/>
            <a:ext cx="384048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66175" y="1453896"/>
            <a:ext cx="333756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38744" y="14173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38744" y="1417320"/>
            <a:ext cx="73152" cy="13258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03336" y="158191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03336" y="16367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1554480"/>
            <a:ext cx="2542031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3. Dev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1993392"/>
            <a:ext cx="301752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Fix notebook/pipeline/dataflow, unit 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3328415"/>
            <a:ext cx="333756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3291839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3291839"/>
            <a:ext cx="73152" cy="132588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8952" y="3456432"/>
            <a:ext cx="411480" cy="4114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351129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3428999"/>
            <a:ext cx="25420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4. SIT Smoke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867911"/>
            <a:ext cx="301752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Run integration checks where dependencies exist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31920" y="3950207"/>
            <a:ext cx="384048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43984" y="3328415"/>
            <a:ext cx="333756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416552" y="3291839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3291839"/>
            <a:ext cx="73152" cy="13258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581144" y="3456432"/>
            <a:ext cx="411480" cy="41148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81144" y="351129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428999"/>
            <a:ext cx="25420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5. PSU Rehearsal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1144" y="3867911"/>
            <a:ext cx="301752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Deploy hotfix to PSU with prod-like config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54112" y="3950207"/>
            <a:ext cx="384048" cy="0"/>
          </a:xfrm>
          <a:prstGeom prst="line">
            <a:avLst/>
          </a:prstGeom>
          <a:ln w="25400">
            <a:solidFill>
              <a:srgbClr val="68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66175" y="3328415"/>
            <a:ext cx="3337560" cy="13258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38744" y="3291839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38744" y="3291839"/>
            <a:ext cx="73152" cy="1325880"/>
          </a:xfrm>
          <a:prstGeom prst="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403336" y="3456432"/>
            <a:ext cx="411480" cy="411480"/>
          </a:xfrm>
          <a:prstGeom prst="ellipse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03336" y="351129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7112" y="3428999"/>
            <a:ext cx="2542031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6. Prod Release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3867911"/>
            <a:ext cx="3017520" cy="6675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Approved deployment with rollback plan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5522976"/>
            <a:ext cx="5120640" cy="59436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7240" y="5486400"/>
            <a:ext cx="5120640" cy="594360"/>
          </a:xfrm>
          <a:prstGeom prst="roundRect">
            <a:avLst/>
          </a:prstGeom>
          <a:solidFill>
            <a:srgbClr val="E1F1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5486400"/>
            <a:ext cx="73152" cy="5943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1832" y="5650992"/>
            <a:ext cx="411480" cy="4114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" y="570585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35607" y="5623560"/>
            <a:ext cx="432511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Minimum control gates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" y="6062472"/>
            <a:ext cx="4800600" cy="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PR approval • deployment approval • release notes • validation evidence • rollback decision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91072" y="5522976"/>
            <a:ext cx="5120640" cy="59436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263640" y="5486400"/>
            <a:ext cx="5120640" cy="594360"/>
          </a:xfrm>
          <a:prstGeom prst="roundRect">
            <a:avLst/>
          </a:prstGeom>
          <a:solidFill>
            <a:srgbClr val="E0F8F5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63640" y="5486400"/>
            <a:ext cx="73152" cy="59436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428231" y="565099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8231" y="570585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22007" y="5623560"/>
            <a:ext cx="432511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Automation expectations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8231" y="6062472"/>
            <a:ext cx="4800600" cy="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ADO/Fabric deployment pipeline • parameterized configs • environment-specific connections • run history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00" b="0">
                <a:solidFill>
                  <a:srgbClr val="687482"/>
                </a:solidFill>
              </a:defRPr>
            </a:pPr>
            <a:r>
              <a:t>MMHCI Data Integration Hub | Fabric Hotfix Framework | 4</a:t>
            </a:r>
          </a:p>
        </p:txBody>
      </p:sp>
      <p:sp>
        <p:nvSpPr>
          <p:cNvPr id="66" name="Oval 65"/>
          <p:cNvSpPr/>
          <p:nvPr/>
        </p:nvSpPr>
        <p:spPr>
          <a:xfrm>
            <a:off x="11475720" y="6473952"/>
            <a:ext cx="82296" cy="82296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640312" y="6473952"/>
            <a:ext cx="82296" cy="82296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804904" y="6473952"/>
            <a:ext cx="82296" cy="8229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0C2340"/>
                </a:solidFill>
              </a:defRPr>
            </a:pPr>
            <a:r>
              <a:t>Infrastructure requirements and capacity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0704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687482"/>
                </a:solidFill>
              </a:defRPr>
            </a:pPr>
            <a:r>
              <a:t>What PSU needs to be production-like without overloading Dev/SIT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" y="1362456"/>
            <a:ext cx="5120640" cy="8686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120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8686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149047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4533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463039"/>
            <a:ext cx="432511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Fabric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4800600" cy="21031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Dedicated PSU workspace with controlled access and Git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487168"/>
            <a:ext cx="5120640" cy="8686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450591"/>
            <a:ext cx="5120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450591"/>
            <a:ext cx="73152" cy="86868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8952" y="2615184"/>
            <a:ext cx="411480" cy="4114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70048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587751"/>
            <a:ext cx="432511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026663"/>
            <a:ext cx="4800600" cy="21031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Separate PSU connections for Dataverse/GCS/SFTP/Key Vault where applicable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611880"/>
            <a:ext cx="5120640" cy="8686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" y="3575304"/>
            <a:ext cx="5120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575304"/>
            <a:ext cx="73152" cy="8686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58952" y="3739896"/>
            <a:ext cx="411480" cy="41148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794760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3712464"/>
            <a:ext cx="432511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Lakehouse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151376"/>
            <a:ext cx="4800600" cy="21031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PSU Lakehouse item with matching folder/table structure and masked prod-like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736592"/>
            <a:ext cx="5120640" cy="86868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" y="4700016"/>
            <a:ext cx="5120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4700016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8952" y="4864607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4919472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4837176"/>
            <a:ext cx="432511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276088"/>
            <a:ext cx="4800600" cy="21031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Run history, alerts, data quality checks and deployment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325880"/>
            <a:ext cx="41148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Capacity options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1819656"/>
            <a:ext cx="2514600" cy="118872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55080" y="1783080"/>
            <a:ext cx="2514600" cy="118872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1783080"/>
            <a:ext cx="73152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9672" y="1920240"/>
            <a:ext cx="2212848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Option A</a:t>
            </a:r>
            <a:br/>
            <a:r>
              <a:t>Shared Dev 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2359152"/>
            <a:ext cx="2194560" cy="5303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00" b="0">
                <a:solidFill>
                  <a:srgbClr val="222C38"/>
                </a:solidFill>
              </a:defRPr>
            </a:pPr>
            <a:r>
              <a:t>Lower cost; requires throttling, scheduling and strict usage guardrails.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71432" y="1819656"/>
            <a:ext cx="2514600" cy="118872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44000" y="1783080"/>
            <a:ext cx="2514600" cy="1188720"/>
          </a:xfrm>
          <a:prstGeom prst="roundRect">
            <a:avLst/>
          </a:prstGeom>
          <a:solidFill>
            <a:srgbClr val="E0F8F5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44000" y="1783080"/>
            <a:ext cx="73152" cy="1188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08592" y="1920240"/>
            <a:ext cx="2212848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Option B</a:t>
            </a:r>
            <a:br/>
            <a:r>
              <a:t>Dedicated PSU 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2359152"/>
            <a:ext cx="2194560" cy="5303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00" b="0">
                <a:solidFill>
                  <a:srgbClr val="222C38"/>
                </a:solidFill>
              </a:defRPr>
            </a:pPr>
            <a:r>
              <a:t>Higher isolation, better reliability; higher cost and admin overhead.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2512" y="3282696"/>
            <a:ext cx="2514600" cy="118872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55080" y="3246120"/>
            <a:ext cx="2514600" cy="1188720"/>
          </a:xfrm>
          <a:prstGeom prst="roundRect">
            <a:avLst/>
          </a:prstGeom>
          <a:solidFill>
            <a:srgbClr val="E1F1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55080" y="3246120"/>
            <a:ext cx="73152" cy="11887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9672" y="3383279"/>
            <a:ext cx="2212848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Option C</a:t>
            </a:r>
            <a:br/>
            <a:r>
              <a:t>Temporary Scale-up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3822191"/>
            <a:ext cx="2194560" cy="5303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00" b="0">
                <a:solidFill>
                  <a:srgbClr val="222C38"/>
                </a:solidFill>
              </a:defRPr>
            </a:pPr>
            <a:r>
              <a:t>Increase capacity during PSU windows; optimize cost and performance.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71432" y="3282696"/>
            <a:ext cx="2514600" cy="118872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144000" y="3246120"/>
            <a:ext cx="2514600" cy="1188720"/>
          </a:xfrm>
          <a:prstGeom prst="roundRect">
            <a:avLst/>
          </a:prstGeom>
          <a:solidFill>
            <a:srgbClr val="F2EB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44000" y="3246120"/>
            <a:ext cx="73152" cy="11887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08592" y="3383279"/>
            <a:ext cx="2212848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Option D</a:t>
            </a:r>
            <a:br/>
            <a:r>
              <a:t>Scheduled Capacity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3822191"/>
            <a:ext cx="2194560" cy="5303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00" b="0">
                <a:solidFill>
                  <a:srgbClr val="222C38"/>
                </a:solidFill>
              </a:defRPr>
            </a:pPr>
            <a:r>
              <a:t>Pause/resume or scheduled workload windows for predictable cost control.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2512" y="4837176"/>
            <a:ext cx="5303520" cy="77724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355080" y="4800600"/>
            <a:ext cx="53035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55080" y="4800600"/>
            <a:ext cx="73152" cy="7772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519672" y="4965192"/>
            <a:ext cx="411480" cy="411480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502005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13448" y="4937760"/>
            <a:ext cx="450799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Recommended position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9672" y="5376672"/>
            <a:ext cx="4983480" cy="1188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Start PSU on guarded shared Dev capacity for initial hotfixes, then move to dedicated or scheduled capacity if concurrency/performance risk increases.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00" b="0">
                <a:solidFill>
                  <a:srgbClr val="687482"/>
                </a:solidFill>
              </a:defRPr>
            </a:pPr>
            <a:r>
              <a:t>MMHCI Data Integration Hub | Fabric Hotfix Framework | 5</a:t>
            </a:r>
          </a:p>
        </p:txBody>
      </p:sp>
      <p:sp>
        <p:nvSpPr>
          <p:cNvPr id="62" name="Oval 61"/>
          <p:cNvSpPr/>
          <p:nvPr/>
        </p:nvSpPr>
        <p:spPr>
          <a:xfrm>
            <a:off x="11475720" y="6473952"/>
            <a:ext cx="82296" cy="82296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640312" y="6473952"/>
            <a:ext cx="82296" cy="82296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804904" y="6473952"/>
            <a:ext cx="82296" cy="8229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0C2340"/>
                </a:solidFill>
              </a:defRPr>
            </a:pPr>
            <a:r>
              <a:t>Technical enablement and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0704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687482"/>
                </a:solidFill>
              </a:defRPr>
            </a:pPr>
            <a:r>
              <a:t>Capabilities required to make PSU useful, repeatable and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408176"/>
            <a:ext cx="5166360" cy="987552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166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987552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53619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9105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508760"/>
            <a:ext cx="4370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Parameterized deployments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484632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Workspace, Lakehouse, connection and folder paths externalized by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408176"/>
            <a:ext cx="5166360" cy="987552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66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73152" cy="987552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3952" y="1536192"/>
            <a:ext cx="411480" cy="4114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59105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508760"/>
            <a:ext cx="4370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Metadata-driven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47672"/>
            <a:ext cx="484632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Control tables drive source path, file pattern, target path, write mode and execution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34056"/>
            <a:ext cx="5166360" cy="987552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2697480"/>
            <a:ext cx="5166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697480"/>
            <a:ext cx="73152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392" y="2862072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291693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2834640"/>
            <a:ext cx="4370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Quality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273552"/>
            <a:ext cx="484632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Row count, schema validation, join-key checks and failed record capture before Prod promotion.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734056"/>
            <a:ext cx="5166360" cy="987552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2697480"/>
            <a:ext cx="5166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2697480"/>
            <a:ext cx="73152" cy="987552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73952" y="2862072"/>
            <a:ext cx="411480" cy="41148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91693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834640"/>
            <a:ext cx="4370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Data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273552"/>
            <a:ext cx="484632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Masked/synthetic PSU data; no unnecessary Prod data exposure.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059936"/>
            <a:ext cx="5166360" cy="987552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5800" y="4023360"/>
            <a:ext cx="5166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4023360"/>
            <a:ext cx="73152" cy="9875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0392" y="4187952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" y="424281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160520"/>
            <a:ext cx="4370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Observability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599432"/>
            <a:ext cx="484632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Pipeline run logs, Function App logs, Fabric run history and alerting.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6792" y="4059936"/>
            <a:ext cx="5166360" cy="987552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09360" y="4023360"/>
            <a:ext cx="5166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4023360"/>
            <a:ext cx="73152" cy="987552"/>
          </a:xfrm>
          <a:prstGeom prst="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73952" y="4187952"/>
            <a:ext cx="411480" cy="411480"/>
          </a:xfrm>
          <a:prstGeom prst="ellipse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73952" y="424281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4160520"/>
            <a:ext cx="437083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Rollback readiness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599432"/>
            <a:ext cx="484632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950" b="0">
                <a:solidFill>
                  <a:srgbClr val="222C38"/>
                </a:solidFill>
              </a:defRPr>
            </a:pPr>
            <a:r>
              <a:t>Previous version branch/tag, redeploy steps and data recovery process documented.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568696"/>
            <a:ext cx="10561320" cy="594360"/>
          </a:xfrm>
          <a:prstGeom prst="round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85800" y="5532120"/>
            <a:ext cx="10561320" cy="594360"/>
          </a:xfrm>
          <a:prstGeom prst="roundRect">
            <a:avLst/>
          </a:prstGeom>
          <a:solidFill>
            <a:srgbClr val="E0F8F5"/>
          </a:solidFill>
          <a:ln w="1016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5800" y="5532120"/>
            <a:ext cx="73152" cy="59436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50392" y="5696712"/>
            <a:ext cx="411480" cy="4114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0392" y="5751576"/>
            <a:ext cx="41148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4168" y="5669280"/>
            <a:ext cx="9765792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0C2340"/>
                </a:solidFill>
              </a:defRPr>
            </a:pPr>
            <a:r>
              <a:t>Readiness checklist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" y="6108192"/>
            <a:ext cx="10241280" cy="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000" b="0">
                <a:solidFill>
                  <a:srgbClr val="222C38"/>
                </a:solidFill>
              </a:defRPr>
            </a:pPr>
            <a:r>
              <a:t>PSU workspace created • Git connected • capacity assigned • access granted • connections validated • smoke-test pipeline passed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800" b="0">
                <a:solidFill>
                  <a:srgbClr val="687482"/>
                </a:solidFill>
              </a:defRPr>
            </a:pPr>
            <a:r>
              <a:t>MMHCI Data Integration Hub | Fabric Hotfix Framework | 6</a:t>
            </a:r>
          </a:p>
        </p:txBody>
      </p:sp>
      <p:sp>
        <p:nvSpPr>
          <p:cNvPr id="55" name="Oval 54"/>
          <p:cNvSpPr/>
          <p:nvPr/>
        </p:nvSpPr>
        <p:spPr>
          <a:xfrm>
            <a:off x="11475720" y="6473952"/>
            <a:ext cx="82296" cy="82296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640312" y="6473952"/>
            <a:ext cx="82296" cy="82296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04904" y="6473952"/>
            <a:ext cx="82296" cy="8229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987552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Shared Dev capacity for PSU: clear pros and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448056"/>
            <a:ext cx="104241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0">
                <a:solidFill>
                  <a:srgbClr val="D2E6EB"/>
                </a:solidFill>
              </a:defRPr>
            </a:pPr>
            <a:r>
              <a:t>Assessment if PSU workspace is added under the same Fabric capacity currently used by 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4526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750" b="0">
                <a:solidFill>
                  <a:srgbClr val="5F6973"/>
                </a:solidFill>
              </a:defRPr>
            </a:pPr>
            <a:r>
              <a:t>MMHCI Data Integration Hub | Fabric Hotfix Framework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11155680" cy="530352"/>
          </a:xfrm>
          <a:prstGeom prst="roundRect">
            <a:avLst/>
          </a:prstGeom>
          <a:solidFill>
            <a:srgbClr val="EBF2F6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969264"/>
            <a:ext cx="1261872" cy="301752"/>
          </a:xfrm>
          <a:prstGeom prst="roundRect">
            <a:avLst/>
          </a:prstGeom>
          <a:solidFill>
            <a:srgbClr val="008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042415"/>
            <a:ext cx="126187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014984"/>
            <a:ext cx="1188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700" b="1">
                <a:solidFill>
                  <a:srgbClr val="5F6973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969264"/>
            <a:ext cx="1261872" cy="301752"/>
          </a:xfrm>
          <a:prstGeom prst="roundRect">
            <a:avLst/>
          </a:prstGeom>
          <a:solidFill>
            <a:srgbClr val="F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042415"/>
            <a:ext cx="126187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014984"/>
            <a:ext cx="1188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700" b="1">
                <a:solidFill>
                  <a:srgbClr val="5F6973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969264"/>
            <a:ext cx="1261872" cy="301752"/>
          </a:xfrm>
          <a:prstGeom prst="roundRect">
            <a:avLst/>
          </a:prstGeom>
          <a:solidFill>
            <a:srgbClr val="16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042415"/>
            <a:ext cx="126187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481328"/>
            <a:ext cx="107442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150" b="1">
                <a:solidFill>
                  <a:srgbClr val="162D46"/>
                </a:solidFill>
              </a:defRPr>
            </a:pPr>
            <a:r>
              <a:t>Decision: Shared Dev capacity is acceptable for a controlled short-term PSU setup, but it requires strict scheduling and monitoring guardrails.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20240"/>
            <a:ext cx="5440680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7512" y="2066544"/>
            <a:ext cx="384048" cy="384048"/>
          </a:xfrm>
          <a:prstGeom prst="ellipse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139696"/>
            <a:ext cx="38404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2084832"/>
            <a:ext cx="49834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22965F"/>
                </a:solidFill>
              </a:defRPr>
            </a:pPr>
            <a:r>
              <a:t>Pros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" y="2670048"/>
            <a:ext cx="100584" cy="100584"/>
          </a:xfrm>
          <a:prstGeom prst="ellipse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25968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Fastest option without new capacity procurement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" y="3127248"/>
            <a:ext cx="100584" cy="100584"/>
          </a:xfrm>
          <a:prstGeom prst="ellipse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0540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Lower initial cost for urgent hotfix validation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" y="3584448"/>
            <a:ext cx="100584" cy="100584"/>
          </a:xfrm>
          <a:prstGeom prst="ellipse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5112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Simpler administration while model matures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" y="4041648"/>
            <a:ext cx="100584" cy="100584"/>
          </a:xfrm>
          <a:prstGeom prst="ellipse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39684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Good for low-volume smoke tests and short validation windows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920240"/>
            <a:ext cx="5440680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28231" y="2066544"/>
            <a:ext cx="384048" cy="384048"/>
          </a:xfrm>
          <a:prstGeom prst="ellipse">
            <a:avLst/>
          </a:prstGeom>
          <a:solidFill>
            <a:srgbClr val="C6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1" y="2139696"/>
            <a:ext cx="38404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296" y="2084832"/>
            <a:ext cx="49834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00" b="1">
                <a:solidFill>
                  <a:srgbClr val="C64840"/>
                </a:solidFill>
              </a:defRPr>
            </a:pPr>
            <a:r>
              <a:t>Cons / Risks</a:t>
            </a:r>
          </a:p>
        </p:txBody>
      </p:sp>
      <p:sp>
        <p:nvSpPr>
          <p:cNvPr id="32" name="Oval 31"/>
          <p:cNvSpPr/>
          <p:nvPr/>
        </p:nvSpPr>
        <p:spPr>
          <a:xfrm>
            <a:off x="6519672" y="2670048"/>
            <a:ext cx="100584" cy="100584"/>
          </a:xfrm>
          <a:prstGeom prst="ellipse">
            <a:avLst/>
          </a:prstGeom>
          <a:solidFill>
            <a:srgbClr val="C6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25968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Dev workloads may impact PSU validation reliability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6519672" y="3127248"/>
            <a:ext cx="100584" cy="100584"/>
          </a:xfrm>
          <a:prstGeom prst="ellipse">
            <a:avLst/>
          </a:prstGeom>
          <a:solidFill>
            <a:srgbClr val="C6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30540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Hotfix runs can compete with active development</a:t>
            </a:r>
          </a:p>
        </p:txBody>
      </p:sp>
      <p:sp>
        <p:nvSpPr>
          <p:cNvPr id="36" name="Oval 35"/>
          <p:cNvSpPr/>
          <p:nvPr/>
        </p:nvSpPr>
        <p:spPr>
          <a:xfrm>
            <a:off x="6519672" y="3584448"/>
            <a:ext cx="100584" cy="100584"/>
          </a:xfrm>
          <a:prstGeom prst="ellipse">
            <a:avLst/>
          </a:prstGeom>
          <a:solidFill>
            <a:srgbClr val="C6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35112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Throttling can create misleading performance results</a:t>
            </a:r>
          </a:p>
        </p:txBody>
      </p:sp>
      <p:sp>
        <p:nvSpPr>
          <p:cNvPr id="38" name="Oval 37"/>
          <p:cNvSpPr/>
          <p:nvPr/>
        </p:nvSpPr>
        <p:spPr>
          <a:xfrm>
            <a:off x="6519672" y="4041648"/>
            <a:ext cx="100584" cy="100584"/>
          </a:xfrm>
          <a:prstGeom prst="ellipse">
            <a:avLst/>
          </a:prstGeom>
          <a:solidFill>
            <a:srgbClr val="C6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3968496"/>
            <a:ext cx="475488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0">
                <a:solidFill>
                  <a:srgbClr val="262A2D"/>
                </a:solidFill>
              </a:defRPr>
            </a:pPr>
            <a:r>
              <a:t>Weaker isolation than dedicated pre-prod capacity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02352"/>
            <a:ext cx="11201400" cy="960120"/>
          </a:xfrm>
          <a:prstGeom prst="roundRect">
            <a:avLst/>
          </a:prstGeom>
          <a:solidFill>
            <a:srgbClr val="16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285232"/>
            <a:ext cx="20116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212080"/>
            <a:ext cx="859536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Use shared Dev capacity only as a short-term enablement path. Move PSU to dedicated or scheduled capacity once hotfix volume, concurrency or business criticality increases.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987552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Guardrails if PSU uses the Dev Fabric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448056"/>
            <a:ext cx="104241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0">
                <a:solidFill>
                  <a:srgbClr val="D2E6EB"/>
                </a:solidFill>
              </a:defRPr>
            </a:pPr>
            <a:r>
              <a:t>Minimum controls to make shared-capacity PSU safe and credible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510528"/>
            <a:ext cx="4526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750" b="0">
                <a:solidFill>
                  <a:srgbClr val="5F6973"/>
                </a:solidFill>
              </a:defRPr>
            </a:pPr>
            <a:r>
              <a:t>MMHCI Data Integration Hub | Fabric Hotfix Framework |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307592"/>
            <a:ext cx="530352" cy="530352"/>
          </a:xfrm>
          <a:prstGeom prst="ellipse">
            <a:avLst/>
          </a:prstGeom>
          <a:solidFill>
            <a:srgbClr val="008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53035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298448"/>
            <a:ext cx="4114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008073"/>
                </a:solidFill>
              </a:defRPr>
            </a:pPr>
            <a:r>
              <a:t>Dedicated PSU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627631"/>
            <a:ext cx="406908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262A2D"/>
                </a:solidFill>
              </a:defRPr>
            </a:pPr>
            <a:r>
              <a:t>Separate workspace, naming convention, access groups and Git branch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64807" y="1307592"/>
            <a:ext cx="530352" cy="530352"/>
          </a:xfrm>
          <a:prstGeom prst="ellipse">
            <a:avLst/>
          </a:prstGeom>
          <a:solidFill>
            <a:srgbClr val="F0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463040"/>
            <a:ext cx="53035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298448"/>
            <a:ext cx="4114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F09B2D"/>
                </a:solidFill>
              </a:defRPr>
            </a:pPr>
            <a:r>
              <a:t>Controlled run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27631"/>
            <a:ext cx="406908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262A2D"/>
                </a:solidFill>
              </a:defRPr>
            </a:pPr>
            <a:r>
              <a:t>Schedule PSU validation away from heavy Dev refreshes, dataflows and notebook jobs.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06039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2816351"/>
            <a:ext cx="530352" cy="530352"/>
          </a:xfrm>
          <a:prstGeom prst="ellipse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971799"/>
            <a:ext cx="53035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807208"/>
            <a:ext cx="4114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22965F"/>
                </a:solidFill>
              </a:defRPr>
            </a:pPr>
            <a:r>
              <a:t>Capacity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136391"/>
            <a:ext cx="406908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262A2D"/>
                </a:solidFill>
              </a:defRPr>
            </a:pPr>
            <a:r>
              <a:t>Track CU usage, throttling, failed refreshes and duration during each hotfix rehearsal.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606039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4807" y="2816351"/>
            <a:ext cx="530352" cy="530352"/>
          </a:xfrm>
          <a:prstGeom prst="ellipse">
            <a:avLst/>
          </a:prstGeom>
          <a:solidFill>
            <a:srgbClr val="16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2971799"/>
            <a:ext cx="53035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807208"/>
            <a:ext cx="4114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1">
                <a:solidFill>
                  <a:srgbClr val="162D46"/>
                </a:solidFill>
              </a:defRPr>
            </a:pPr>
            <a:r>
              <a:t>Promotion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136391"/>
            <a:ext cx="406908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262A2D"/>
                </a:solidFill>
              </a:defRPr>
            </a:pPr>
            <a:r>
              <a:t>Capture run history, row counts, schema checks, smoke-test results and rollback notes.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11064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600" b="1">
                <a:solidFill>
                  <a:srgbClr val="162D46"/>
                </a:solidFill>
              </a:defRPr>
            </a:pPr>
            <a:r>
              <a:t>Decision rule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28032"/>
            <a:ext cx="3429000" cy="914400"/>
          </a:xfrm>
          <a:prstGeom prst="roundRect">
            <a:avLst/>
          </a:prstGeom>
          <a:solidFill>
            <a:srgbClr val="E8F0F6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965192"/>
            <a:ext cx="30175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150" b="1">
                <a:solidFill>
                  <a:srgbClr val="162D46"/>
                </a:solidFill>
              </a:defRPr>
            </a:pPr>
            <a:r>
              <a:t>Low hotfix volume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285232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950" b="0">
                <a:solidFill>
                  <a:srgbClr val="262A2D"/>
                </a:solidFill>
              </a:defRPr>
            </a:pPr>
            <a:r>
              <a:t>Shared Dev capacity is acceptable with guardrails.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828032"/>
            <a:ext cx="3429000" cy="914400"/>
          </a:xfrm>
          <a:prstGeom prst="roundRect">
            <a:avLst/>
          </a:prstGeom>
          <a:solidFill>
            <a:srgbClr val="E8F0F6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4965192"/>
            <a:ext cx="30175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150" b="1">
                <a:solidFill>
                  <a:srgbClr val="162D46"/>
                </a:solidFill>
              </a:defRPr>
            </a:pPr>
            <a:r>
              <a:t>Frequent/critical hotfixes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7" y="5285232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950" b="0">
                <a:solidFill>
                  <a:srgbClr val="262A2D"/>
                </a:solidFill>
              </a:defRPr>
            </a:pPr>
            <a:r>
              <a:t>Use dedicated PSU capacity or scheduled scale-up.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4828032"/>
            <a:ext cx="3429000" cy="914400"/>
          </a:xfrm>
          <a:prstGeom prst="roundRect">
            <a:avLst/>
          </a:prstGeom>
          <a:solidFill>
            <a:srgbClr val="E8F0F6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9" y="4965192"/>
            <a:ext cx="30175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150" b="1">
                <a:solidFill>
                  <a:srgbClr val="162D46"/>
                </a:solidFill>
              </a:defRPr>
            </a:pPr>
            <a:r>
              <a:t>Performance-sensitive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5285232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950" b="0">
                <a:solidFill>
                  <a:srgbClr val="262A2D"/>
                </a:solidFill>
              </a:defRPr>
            </a:pPr>
            <a:r>
              <a:t>Avoid shared capacity; isolate PSU workload.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1076</Words>
  <Application>Microsoft Office PowerPoint</Application>
  <PresentationFormat>Widescreen</PresentationFormat>
  <Paragraphs>188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Raghuwanshi, Monika</cp:lastModifiedBy>
  <cp:revision>2</cp:revision>
  <dcterms:created xsi:type="dcterms:W3CDTF">2013-01-27T09:14:16Z</dcterms:created>
  <dcterms:modified xsi:type="dcterms:W3CDTF">2026-05-28T00:25:24Z</dcterms:modified>
  <cp:category/>
</cp:coreProperties>
</file>